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4630400" cy="8229600"/>
  <p:notesSz cx="14630400" cy="82296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140" y="4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97280" y="2551176"/>
            <a:ext cx="12435840" cy="172821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00" b="0" i="0" u="sng">
                <a:solidFill>
                  <a:srgbClr val="F1F1F3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194560" y="4608576"/>
            <a:ext cx="10241280" cy="2057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F1F1F3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00" b="0" i="0" u="sng">
                <a:solidFill>
                  <a:srgbClr val="F1F1F3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F1F1F3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00" b="0" i="0" u="sng">
                <a:solidFill>
                  <a:srgbClr val="F1F1F3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731520" y="1892808"/>
            <a:ext cx="6364224" cy="5431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7534656" y="1892808"/>
            <a:ext cx="6364224" cy="5431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00" b="0" i="0" u="sng">
                <a:solidFill>
                  <a:srgbClr val="F1F1F3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4630400" cy="8229600"/>
          </a:xfrm>
          <a:custGeom>
            <a:avLst/>
            <a:gdLst/>
            <a:ahLst/>
            <a:cxnLst/>
            <a:rect l="l" t="t" r="r" b="b"/>
            <a:pathLst>
              <a:path w="14630400" h="8229600">
                <a:moveTo>
                  <a:pt x="14630400" y="0"/>
                </a:moveTo>
                <a:lnTo>
                  <a:pt x="0" y="0"/>
                </a:lnTo>
                <a:lnTo>
                  <a:pt x="0" y="8229600"/>
                </a:lnTo>
                <a:lnTo>
                  <a:pt x="14630400" y="8229600"/>
                </a:lnTo>
                <a:lnTo>
                  <a:pt x="14630400" y="0"/>
                </a:lnTo>
                <a:close/>
              </a:path>
            </a:pathLst>
          </a:custGeom>
          <a:solidFill>
            <a:srgbClr val="040404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839192" y="7749538"/>
            <a:ext cx="1722627" cy="41147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92302" y="240233"/>
            <a:ext cx="13358088" cy="1802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00" b="0" i="0" u="sng">
                <a:solidFill>
                  <a:srgbClr val="F1F1F3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342136" y="1453642"/>
            <a:ext cx="6233159" cy="21405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F1F1F3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974336" y="7653528"/>
            <a:ext cx="4681728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731520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533888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amma.app/?utm_source=made-with-gamma" TargetMode="Externa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4630400" cy="8229600"/>
            <a:chOff x="0" y="0"/>
            <a:chExt cx="14630400" cy="82296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4630400" cy="82295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55746" y="248513"/>
              <a:ext cx="7689088" cy="7771765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6125" rIns="0" bIns="0" rtlCol="0">
            <a:spAutoFit/>
          </a:bodyPr>
          <a:lstStyle/>
          <a:p>
            <a:pPr marL="5521960">
              <a:lnSpc>
                <a:spcPct val="100000"/>
              </a:lnSpc>
              <a:spcBef>
                <a:spcPts val="95"/>
              </a:spcBef>
            </a:pPr>
            <a:r>
              <a:rPr sz="4000" i="1" u="none" spc="-10" dirty="0">
                <a:solidFill>
                  <a:srgbClr val="FFFFFF"/>
                </a:solidFill>
                <a:latin typeface="Arial"/>
                <a:cs typeface="Arial"/>
              </a:rPr>
              <a:t>AITracker</a:t>
            </a:r>
            <a:endParaRPr sz="4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224654" y="2585085"/>
            <a:ext cx="6186805" cy="2979420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12065" marR="5080" indent="-5080" algn="ctr">
              <a:lnSpc>
                <a:spcPts val="9000"/>
              </a:lnSpc>
              <a:spcBef>
                <a:spcPts val="905"/>
              </a:spcBef>
            </a:pPr>
            <a:r>
              <a:rPr sz="8000" b="1" spc="-10" dirty="0">
                <a:solidFill>
                  <a:srgbClr val="FFFFFF"/>
                </a:solidFill>
                <a:latin typeface="Arial"/>
                <a:cs typeface="Arial"/>
              </a:rPr>
              <a:t>Project Presentation</a:t>
            </a:r>
            <a:endParaRPr sz="80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325"/>
              </a:spcBef>
            </a:pPr>
            <a:r>
              <a:rPr sz="2600" dirty="0">
                <a:solidFill>
                  <a:srgbClr val="FFFFFF"/>
                </a:solidFill>
                <a:latin typeface="Arial MT"/>
                <a:cs typeface="Arial MT"/>
              </a:rPr>
              <a:t>Yatendra</a:t>
            </a:r>
            <a:r>
              <a:rPr sz="2600" spc="-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Arial MT"/>
                <a:cs typeface="Arial MT"/>
              </a:rPr>
              <a:t>Pachori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456679" y="6996176"/>
            <a:ext cx="17189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spc="-10" dirty="0">
                <a:solidFill>
                  <a:srgbClr val="FFFFFF"/>
                </a:solidFill>
                <a:latin typeface="Arial"/>
                <a:cs typeface="Arial"/>
              </a:rPr>
              <a:t>yatendra054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2674092" y="7661392"/>
            <a:ext cx="1887855" cy="499745"/>
            <a:chOff x="12674092" y="7661392"/>
            <a:chExt cx="1887855" cy="499745"/>
          </a:xfrm>
        </p:grpSpPr>
        <p:sp>
          <p:nvSpPr>
            <p:cNvPr id="3" name="object 3"/>
            <p:cNvSpPr/>
            <p:nvPr/>
          </p:nvSpPr>
          <p:spPr>
            <a:xfrm>
              <a:off x="12680442" y="7667742"/>
              <a:ext cx="1873250" cy="452120"/>
            </a:xfrm>
            <a:custGeom>
              <a:avLst/>
              <a:gdLst/>
              <a:ahLst/>
              <a:cxnLst/>
              <a:rect l="l" t="t" r="r" b="b"/>
              <a:pathLst>
                <a:path w="1873250" h="452120">
                  <a:moveTo>
                    <a:pt x="1872869" y="0"/>
                  </a:moveTo>
                  <a:lnTo>
                    <a:pt x="0" y="0"/>
                  </a:lnTo>
                  <a:lnTo>
                    <a:pt x="0" y="451688"/>
                  </a:lnTo>
                  <a:lnTo>
                    <a:pt x="1872869" y="451688"/>
                  </a:lnTo>
                  <a:lnTo>
                    <a:pt x="18728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2680442" y="7667742"/>
              <a:ext cx="1873250" cy="452120"/>
            </a:xfrm>
            <a:custGeom>
              <a:avLst/>
              <a:gdLst/>
              <a:ahLst/>
              <a:cxnLst/>
              <a:rect l="l" t="t" r="r" b="b"/>
              <a:pathLst>
                <a:path w="1873250" h="452120">
                  <a:moveTo>
                    <a:pt x="0" y="451688"/>
                  </a:moveTo>
                  <a:lnTo>
                    <a:pt x="1872869" y="451688"/>
                  </a:lnTo>
                  <a:lnTo>
                    <a:pt x="1872869" y="0"/>
                  </a:lnTo>
                  <a:lnTo>
                    <a:pt x="0" y="0"/>
                  </a:lnTo>
                  <a:lnTo>
                    <a:pt x="0" y="451688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86893" rIns="0" bIns="0" rtlCol="0">
            <a:spAutoFit/>
          </a:bodyPr>
          <a:lstStyle/>
          <a:p>
            <a:pPr marL="5180965" marR="5080">
              <a:lnSpc>
                <a:spcPts val="5600"/>
              </a:lnSpc>
            </a:pPr>
            <a:r>
              <a:rPr sz="4450" spc="185" dirty="0"/>
              <a:t>Scanner</a:t>
            </a:r>
            <a:r>
              <a:rPr sz="4450" spc="-200" dirty="0"/>
              <a:t> </a:t>
            </a:r>
            <a:r>
              <a:rPr sz="4450" spc="100" dirty="0"/>
              <a:t>Device</a:t>
            </a:r>
            <a:r>
              <a:rPr sz="4450" spc="-180" dirty="0"/>
              <a:t> </a:t>
            </a:r>
            <a:r>
              <a:rPr sz="4450" spc="-10" dirty="0"/>
              <a:t>Identification</a:t>
            </a:r>
            <a:r>
              <a:rPr sz="4450" u="none" spc="-10" dirty="0"/>
              <a:t> </a:t>
            </a:r>
            <a:r>
              <a:rPr sz="4450" dirty="0"/>
              <a:t>from</a:t>
            </a:r>
            <a:r>
              <a:rPr sz="4450" spc="-135" dirty="0"/>
              <a:t> </a:t>
            </a:r>
            <a:r>
              <a:rPr sz="4450" spc="240" dirty="0"/>
              <a:t>Scanned</a:t>
            </a:r>
            <a:r>
              <a:rPr sz="4450" spc="-165" dirty="0"/>
              <a:t> </a:t>
            </a:r>
            <a:r>
              <a:rPr sz="4450" spc="95" dirty="0"/>
              <a:t>Documents</a:t>
            </a:r>
            <a:endParaRPr sz="4450"/>
          </a:p>
        </p:txBody>
      </p:sp>
      <p:sp>
        <p:nvSpPr>
          <p:cNvPr id="6" name="object 6"/>
          <p:cNvSpPr txBox="1"/>
          <p:nvPr/>
        </p:nvSpPr>
        <p:spPr>
          <a:xfrm>
            <a:off x="6048247" y="2712541"/>
            <a:ext cx="7886065" cy="308038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418465">
              <a:lnSpc>
                <a:spcPct val="100899"/>
              </a:lnSpc>
              <a:spcBef>
                <a:spcPts val="75"/>
              </a:spcBef>
            </a:pPr>
            <a:r>
              <a:rPr sz="2400" dirty="0">
                <a:solidFill>
                  <a:srgbClr val="E4DFDF"/>
                </a:solidFill>
                <a:latin typeface="Roboto Lt"/>
                <a:cs typeface="Roboto Lt"/>
              </a:rPr>
              <a:t>Scanned</a:t>
            </a:r>
            <a:r>
              <a:rPr sz="2400" spc="-9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2400" dirty="0">
                <a:solidFill>
                  <a:srgbClr val="E4DFDF"/>
                </a:solidFill>
                <a:latin typeface="Roboto Lt"/>
                <a:cs typeface="Roboto Lt"/>
              </a:rPr>
              <a:t>documents</a:t>
            </a:r>
            <a:r>
              <a:rPr sz="2400" spc="-105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2400" dirty="0">
                <a:solidFill>
                  <a:srgbClr val="E4DFDF"/>
                </a:solidFill>
                <a:latin typeface="Roboto Lt"/>
                <a:cs typeface="Roboto Lt"/>
              </a:rPr>
              <a:t>contain</a:t>
            </a:r>
            <a:r>
              <a:rPr sz="2400" spc="-9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2400" dirty="0">
                <a:solidFill>
                  <a:srgbClr val="E4DFDF"/>
                </a:solidFill>
                <a:latin typeface="Roboto Lt"/>
                <a:cs typeface="Roboto Lt"/>
              </a:rPr>
              <a:t>hidden</a:t>
            </a:r>
            <a:r>
              <a:rPr sz="2400" spc="-10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2400" spc="-60" dirty="0">
                <a:solidFill>
                  <a:srgbClr val="E4DFDF"/>
                </a:solidFill>
                <a:latin typeface="Roboto Lt"/>
                <a:cs typeface="Roboto Lt"/>
              </a:rPr>
              <a:t>device-</a:t>
            </a:r>
            <a:r>
              <a:rPr sz="2400" spc="-10" dirty="0">
                <a:solidFill>
                  <a:srgbClr val="E4DFDF"/>
                </a:solidFill>
                <a:latin typeface="Roboto Lt"/>
                <a:cs typeface="Roboto Lt"/>
              </a:rPr>
              <a:t>specific </a:t>
            </a:r>
            <a:r>
              <a:rPr sz="2400" dirty="0">
                <a:solidFill>
                  <a:srgbClr val="E4DFDF"/>
                </a:solidFill>
                <a:latin typeface="Roboto Lt"/>
                <a:cs typeface="Roboto Lt"/>
              </a:rPr>
              <a:t>patterns</a:t>
            </a:r>
            <a:r>
              <a:rPr sz="2400" spc="-5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2400" spc="-10" dirty="0">
                <a:solidFill>
                  <a:srgbClr val="E4DFDF"/>
                </a:solidFill>
                <a:latin typeface="Roboto Lt"/>
                <a:cs typeface="Roboto Lt"/>
              </a:rPr>
              <a:t>invisible</a:t>
            </a:r>
            <a:r>
              <a:rPr sz="2400" spc="-7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2400" dirty="0">
                <a:solidFill>
                  <a:srgbClr val="E4DFDF"/>
                </a:solidFill>
                <a:latin typeface="Roboto Lt"/>
                <a:cs typeface="Roboto Lt"/>
              </a:rPr>
              <a:t>to</a:t>
            </a:r>
            <a:r>
              <a:rPr sz="2400" spc="-65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2400" dirty="0">
                <a:solidFill>
                  <a:srgbClr val="E4DFDF"/>
                </a:solidFill>
                <a:latin typeface="Roboto Lt"/>
                <a:cs typeface="Roboto Lt"/>
              </a:rPr>
              <a:t>the</a:t>
            </a:r>
            <a:r>
              <a:rPr sz="2400" spc="-8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2400" dirty="0">
                <a:solidFill>
                  <a:srgbClr val="E4DFDF"/>
                </a:solidFill>
                <a:latin typeface="Roboto Lt"/>
                <a:cs typeface="Roboto Lt"/>
              </a:rPr>
              <a:t>human</a:t>
            </a:r>
            <a:r>
              <a:rPr sz="2400" spc="-7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2400" spc="-50" dirty="0">
                <a:solidFill>
                  <a:srgbClr val="E4DFDF"/>
                </a:solidFill>
                <a:latin typeface="Roboto Lt"/>
                <a:cs typeface="Roboto Lt"/>
              </a:rPr>
              <a:t>eye—</a:t>
            </a:r>
            <a:r>
              <a:rPr sz="2400" dirty="0">
                <a:solidFill>
                  <a:srgbClr val="E4DFDF"/>
                </a:solidFill>
                <a:latin typeface="Roboto Lt"/>
                <a:cs typeface="Roboto Lt"/>
              </a:rPr>
              <a:t>subtle</a:t>
            </a:r>
            <a:r>
              <a:rPr sz="2400" spc="-85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2400" dirty="0">
                <a:solidFill>
                  <a:srgbClr val="E4DFDF"/>
                </a:solidFill>
                <a:latin typeface="Roboto Lt"/>
                <a:cs typeface="Roboto Lt"/>
              </a:rPr>
              <a:t>artifacts</a:t>
            </a:r>
            <a:r>
              <a:rPr sz="2400" spc="-5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2400" spc="-25" dirty="0">
                <a:solidFill>
                  <a:srgbClr val="E4DFDF"/>
                </a:solidFill>
                <a:latin typeface="Roboto Lt"/>
                <a:cs typeface="Roboto Lt"/>
              </a:rPr>
              <a:t>and </a:t>
            </a:r>
            <a:r>
              <a:rPr sz="2400" dirty="0">
                <a:solidFill>
                  <a:srgbClr val="E4DFDF"/>
                </a:solidFill>
                <a:latin typeface="Roboto Lt"/>
                <a:cs typeface="Roboto Lt"/>
              </a:rPr>
              <a:t>noise</a:t>
            </a:r>
            <a:r>
              <a:rPr sz="2400" spc="-65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2400" spc="-10" dirty="0">
                <a:solidFill>
                  <a:srgbClr val="E4DFDF"/>
                </a:solidFill>
                <a:latin typeface="Roboto Lt"/>
                <a:cs typeface="Roboto Lt"/>
              </a:rPr>
              <a:t>signatures</a:t>
            </a:r>
            <a:r>
              <a:rPr sz="2400" spc="-55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2400" spc="-10" dirty="0">
                <a:solidFill>
                  <a:srgbClr val="E4DFDF"/>
                </a:solidFill>
                <a:latin typeface="Roboto Lt"/>
                <a:cs typeface="Roboto Lt"/>
              </a:rPr>
              <a:t>unique</a:t>
            </a:r>
            <a:r>
              <a:rPr sz="2400" spc="-9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2400" dirty="0">
                <a:solidFill>
                  <a:srgbClr val="E4DFDF"/>
                </a:solidFill>
                <a:latin typeface="Roboto Lt"/>
                <a:cs typeface="Roboto Lt"/>
              </a:rPr>
              <a:t>to</a:t>
            </a:r>
            <a:r>
              <a:rPr sz="2400" spc="-65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2400" dirty="0">
                <a:solidFill>
                  <a:srgbClr val="E4DFDF"/>
                </a:solidFill>
                <a:latin typeface="Roboto Lt"/>
                <a:cs typeface="Roboto Lt"/>
              </a:rPr>
              <a:t>each</a:t>
            </a:r>
            <a:r>
              <a:rPr sz="2400" spc="-7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2400" dirty="0">
                <a:solidFill>
                  <a:srgbClr val="E4DFDF"/>
                </a:solidFill>
                <a:latin typeface="Roboto Lt"/>
                <a:cs typeface="Roboto Lt"/>
              </a:rPr>
              <a:t>scanner</a:t>
            </a:r>
            <a:r>
              <a:rPr sz="2400" spc="-55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2400" spc="-10" dirty="0">
                <a:solidFill>
                  <a:srgbClr val="E4DFDF"/>
                </a:solidFill>
                <a:latin typeface="Roboto Lt"/>
                <a:cs typeface="Roboto Lt"/>
              </a:rPr>
              <a:t>model.</a:t>
            </a:r>
            <a:endParaRPr sz="2400">
              <a:latin typeface="Roboto Lt"/>
              <a:cs typeface="Roboto Lt"/>
            </a:endParaRPr>
          </a:p>
          <a:p>
            <a:pPr>
              <a:lnSpc>
                <a:spcPct val="100000"/>
              </a:lnSpc>
            </a:pPr>
            <a:endParaRPr sz="2400">
              <a:latin typeface="Roboto Lt"/>
              <a:cs typeface="Roboto Lt"/>
            </a:endParaRPr>
          </a:p>
          <a:p>
            <a:pPr>
              <a:lnSpc>
                <a:spcPct val="100000"/>
              </a:lnSpc>
              <a:spcBef>
                <a:spcPts val="885"/>
              </a:spcBef>
            </a:pPr>
            <a:endParaRPr sz="2400">
              <a:latin typeface="Roboto Lt"/>
              <a:cs typeface="Roboto Lt"/>
            </a:endParaRPr>
          </a:p>
          <a:p>
            <a:pPr marL="12700" marR="5080">
              <a:lnSpc>
                <a:spcPct val="100800"/>
              </a:lnSpc>
            </a:pPr>
            <a:r>
              <a:rPr sz="2400" dirty="0">
                <a:solidFill>
                  <a:srgbClr val="E4DFDF"/>
                </a:solidFill>
                <a:latin typeface="Roboto Lt"/>
                <a:cs typeface="Roboto Lt"/>
              </a:rPr>
              <a:t>Our</a:t>
            </a:r>
            <a:r>
              <a:rPr sz="2400" spc="-11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2400" spc="-20" dirty="0">
                <a:solidFill>
                  <a:srgbClr val="E4DFDF"/>
                </a:solidFill>
                <a:latin typeface="Roboto Lt"/>
                <a:cs typeface="Roboto Lt"/>
              </a:rPr>
              <a:t>Objective:</a:t>
            </a:r>
            <a:r>
              <a:rPr sz="2400" spc="-95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2400" dirty="0">
                <a:solidFill>
                  <a:srgbClr val="E4DFDF"/>
                </a:solidFill>
                <a:latin typeface="Roboto Lt"/>
                <a:cs typeface="Roboto Lt"/>
              </a:rPr>
              <a:t>Build</a:t>
            </a:r>
            <a:r>
              <a:rPr sz="2400" spc="-8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2400" dirty="0">
                <a:solidFill>
                  <a:srgbClr val="E4DFDF"/>
                </a:solidFill>
                <a:latin typeface="Roboto Lt"/>
                <a:cs typeface="Roboto Lt"/>
              </a:rPr>
              <a:t>an</a:t>
            </a:r>
            <a:r>
              <a:rPr sz="2400" spc="-65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2400" dirty="0">
                <a:solidFill>
                  <a:srgbClr val="E4DFDF"/>
                </a:solidFill>
                <a:latin typeface="Roboto Lt"/>
                <a:cs typeface="Roboto Lt"/>
              </a:rPr>
              <a:t>intelligent</a:t>
            </a:r>
            <a:r>
              <a:rPr sz="2400" spc="-7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2400" dirty="0">
                <a:solidFill>
                  <a:srgbClr val="E4DFDF"/>
                </a:solidFill>
                <a:latin typeface="Roboto Lt"/>
                <a:cs typeface="Roboto Lt"/>
              </a:rPr>
              <a:t>system</a:t>
            </a:r>
            <a:r>
              <a:rPr sz="2400" spc="-7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2400" dirty="0">
                <a:solidFill>
                  <a:srgbClr val="E4DFDF"/>
                </a:solidFill>
                <a:latin typeface="Roboto Lt"/>
                <a:cs typeface="Roboto Lt"/>
              </a:rPr>
              <a:t>that</a:t>
            </a:r>
            <a:r>
              <a:rPr sz="2400" spc="-7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2400" spc="-25" dirty="0">
                <a:solidFill>
                  <a:srgbClr val="E4DFDF"/>
                </a:solidFill>
                <a:latin typeface="Roboto Lt"/>
                <a:cs typeface="Roboto Lt"/>
              </a:rPr>
              <a:t>can </a:t>
            </a:r>
            <a:r>
              <a:rPr sz="2400" spc="-10" dirty="0">
                <a:solidFill>
                  <a:srgbClr val="E4DFDF"/>
                </a:solidFill>
                <a:latin typeface="Roboto Lt"/>
                <a:cs typeface="Roboto Lt"/>
              </a:rPr>
              <a:t>accurately</a:t>
            </a:r>
            <a:r>
              <a:rPr sz="2400" spc="-75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2400" dirty="0">
                <a:solidFill>
                  <a:srgbClr val="E4DFDF"/>
                </a:solidFill>
                <a:latin typeface="Roboto Lt"/>
                <a:cs typeface="Roboto Lt"/>
              </a:rPr>
              <a:t>predict</a:t>
            </a:r>
            <a:r>
              <a:rPr sz="2400" spc="-6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2400" dirty="0">
                <a:solidFill>
                  <a:srgbClr val="E4DFDF"/>
                </a:solidFill>
                <a:latin typeface="Roboto Lt"/>
                <a:cs typeface="Roboto Lt"/>
              </a:rPr>
              <a:t>the</a:t>
            </a:r>
            <a:r>
              <a:rPr sz="2400" spc="-85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2400" dirty="0">
                <a:solidFill>
                  <a:srgbClr val="E4DFDF"/>
                </a:solidFill>
                <a:latin typeface="Roboto Lt"/>
                <a:cs typeface="Roboto Lt"/>
              </a:rPr>
              <a:t>scanner</a:t>
            </a:r>
            <a:r>
              <a:rPr sz="2400" spc="-55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2400" dirty="0">
                <a:solidFill>
                  <a:srgbClr val="E4DFDF"/>
                </a:solidFill>
                <a:latin typeface="Roboto Lt"/>
                <a:cs typeface="Roboto Lt"/>
              </a:rPr>
              <a:t>brand</a:t>
            </a:r>
            <a:r>
              <a:rPr sz="2400" spc="-55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2400" dirty="0">
                <a:solidFill>
                  <a:srgbClr val="E4DFDF"/>
                </a:solidFill>
                <a:latin typeface="Roboto Lt"/>
                <a:cs typeface="Roboto Lt"/>
              </a:rPr>
              <a:t>from</a:t>
            </a:r>
            <a:r>
              <a:rPr sz="2400" spc="-65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2400" dirty="0">
                <a:solidFill>
                  <a:srgbClr val="E4DFDF"/>
                </a:solidFill>
                <a:latin typeface="Roboto Lt"/>
                <a:cs typeface="Roboto Lt"/>
              </a:rPr>
              <a:t>scanned</a:t>
            </a:r>
            <a:r>
              <a:rPr sz="2400" spc="-6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2400" spc="-10" dirty="0">
                <a:solidFill>
                  <a:srgbClr val="E4DFDF"/>
                </a:solidFill>
                <a:latin typeface="Roboto Lt"/>
                <a:cs typeface="Roboto Lt"/>
              </a:rPr>
              <a:t>images </a:t>
            </a:r>
            <a:r>
              <a:rPr sz="2400" dirty="0">
                <a:solidFill>
                  <a:srgbClr val="E4DFDF"/>
                </a:solidFill>
                <a:latin typeface="Roboto Lt"/>
                <a:cs typeface="Roboto Lt"/>
              </a:rPr>
              <a:t>using</a:t>
            </a:r>
            <a:r>
              <a:rPr sz="2400" spc="-10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2400" dirty="0">
                <a:solidFill>
                  <a:srgbClr val="E4DFDF"/>
                </a:solidFill>
                <a:latin typeface="Roboto Lt"/>
                <a:cs typeface="Roboto Lt"/>
              </a:rPr>
              <a:t>machine</a:t>
            </a:r>
            <a:r>
              <a:rPr sz="2400" spc="-10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2400" dirty="0">
                <a:solidFill>
                  <a:srgbClr val="E4DFDF"/>
                </a:solidFill>
                <a:latin typeface="Roboto Lt"/>
                <a:cs typeface="Roboto Lt"/>
              </a:rPr>
              <a:t>learning</a:t>
            </a:r>
            <a:r>
              <a:rPr sz="2400" spc="-8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2400" dirty="0">
                <a:solidFill>
                  <a:srgbClr val="E4DFDF"/>
                </a:solidFill>
                <a:latin typeface="Roboto Lt"/>
                <a:cs typeface="Roboto Lt"/>
              </a:rPr>
              <a:t>and</a:t>
            </a:r>
            <a:r>
              <a:rPr sz="2400" spc="-9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2400" dirty="0">
                <a:solidFill>
                  <a:srgbClr val="E4DFDF"/>
                </a:solidFill>
                <a:latin typeface="Roboto Lt"/>
                <a:cs typeface="Roboto Lt"/>
              </a:rPr>
              <a:t>deep</a:t>
            </a:r>
            <a:r>
              <a:rPr sz="2400" spc="-9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2400" spc="-10" dirty="0">
                <a:solidFill>
                  <a:srgbClr val="E4DFDF"/>
                </a:solidFill>
                <a:latin typeface="Roboto Lt"/>
                <a:cs typeface="Roboto Lt"/>
              </a:rPr>
              <a:t>learning</a:t>
            </a:r>
            <a:r>
              <a:rPr sz="2400" spc="-8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2400" spc="-10" dirty="0">
                <a:solidFill>
                  <a:srgbClr val="E4DFDF"/>
                </a:solidFill>
                <a:latin typeface="Roboto Lt"/>
                <a:cs typeface="Roboto Lt"/>
              </a:rPr>
              <a:t>techniques.</a:t>
            </a:r>
            <a:endParaRPr sz="2400">
              <a:latin typeface="Roboto Lt"/>
              <a:cs typeface="Roboto Lt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8470" y="1972055"/>
            <a:ext cx="5277104" cy="496862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43086" y="1931539"/>
            <a:ext cx="6187313" cy="618731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92302" y="307339"/>
            <a:ext cx="724027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95" dirty="0"/>
              <a:t>Dataset</a:t>
            </a:r>
            <a:r>
              <a:rPr sz="3200" dirty="0"/>
              <a:t> Collection</a:t>
            </a:r>
            <a:r>
              <a:rPr sz="3200" spc="-35" dirty="0"/>
              <a:t> </a:t>
            </a:r>
            <a:r>
              <a:rPr sz="3200" dirty="0"/>
              <a:t>&amp; </a:t>
            </a:r>
            <a:r>
              <a:rPr sz="3200" spc="-10" dirty="0"/>
              <a:t>Understanding</a:t>
            </a:r>
            <a:endParaRPr sz="3200"/>
          </a:p>
        </p:txBody>
      </p:sp>
      <p:sp>
        <p:nvSpPr>
          <p:cNvPr id="4" name="object 4"/>
          <p:cNvSpPr txBox="1"/>
          <p:nvPr/>
        </p:nvSpPr>
        <p:spPr>
          <a:xfrm>
            <a:off x="507593" y="1487169"/>
            <a:ext cx="6792595" cy="55683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6850">
              <a:lnSpc>
                <a:spcPct val="100000"/>
              </a:lnSpc>
              <a:spcBef>
                <a:spcPts val="95"/>
              </a:spcBef>
            </a:pPr>
            <a:r>
              <a:rPr sz="2800" spc="80" dirty="0">
                <a:solidFill>
                  <a:srgbClr val="F1F1F3"/>
                </a:solidFill>
                <a:latin typeface="Lucida Sans Unicode"/>
                <a:cs typeface="Lucida Sans Unicode"/>
              </a:rPr>
              <a:t>Dataset</a:t>
            </a:r>
            <a:r>
              <a:rPr sz="2800" spc="-100" dirty="0">
                <a:solidFill>
                  <a:srgbClr val="F1F1F3"/>
                </a:solidFill>
                <a:latin typeface="Lucida Sans Unicode"/>
                <a:cs typeface="Lucida Sans Unicode"/>
              </a:rPr>
              <a:t> </a:t>
            </a:r>
            <a:r>
              <a:rPr sz="2800" spc="-10" dirty="0">
                <a:solidFill>
                  <a:srgbClr val="F1F1F3"/>
                </a:solidFill>
                <a:latin typeface="Lucida Sans Unicode"/>
                <a:cs typeface="Lucida Sans Unicode"/>
              </a:rPr>
              <a:t>Composition</a:t>
            </a:r>
            <a:endParaRPr sz="28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260"/>
              </a:spcBef>
            </a:pPr>
            <a:endParaRPr sz="2800">
              <a:latin typeface="Lucida Sans Unicode"/>
              <a:cs typeface="Lucida Sans Unicode"/>
            </a:endParaRPr>
          </a:p>
          <a:p>
            <a:pPr marL="196850" marR="5080">
              <a:lnSpc>
                <a:spcPct val="99800"/>
              </a:lnSpc>
              <a:spcBef>
                <a:spcPts val="5"/>
              </a:spcBef>
            </a:pPr>
            <a:r>
              <a:rPr sz="2400" dirty="0">
                <a:solidFill>
                  <a:srgbClr val="E4DFDF"/>
                </a:solidFill>
                <a:latin typeface="Roboto Lt"/>
                <a:cs typeface="Roboto Lt"/>
              </a:rPr>
              <a:t>We</a:t>
            </a:r>
            <a:r>
              <a:rPr sz="2400" spc="-75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2400" dirty="0">
                <a:solidFill>
                  <a:srgbClr val="E4DFDF"/>
                </a:solidFill>
                <a:latin typeface="Roboto Lt"/>
                <a:cs typeface="Roboto Lt"/>
              </a:rPr>
              <a:t>assembled</a:t>
            </a:r>
            <a:r>
              <a:rPr sz="2400" spc="-45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2400" dirty="0">
                <a:solidFill>
                  <a:srgbClr val="E4DFDF"/>
                </a:solidFill>
                <a:latin typeface="Roboto Lt"/>
                <a:cs typeface="Roboto Lt"/>
              </a:rPr>
              <a:t>a</a:t>
            </a:r>
            <a:r>
              <a:rPr sz="2400" spc="-6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2400" spc="-10" dirty="0">
                <a:solidFill>
                  <a:srgbClr val="E4DFDF"/>
                </a:solidFill>
                <a:latin typeface="Roboto Lt"/>
                <a:cs typeface="Roboto Lt"/>
              </a:rPr>
              <a:t>comprehensive</a:t>
            </a:r>
            <a:r>
              <a:rPr sz="2400" spc="-5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2400" dirty="0">
                <a:solidFill>
                  <a:srgbClr val="E4DFDF"/>
                </a:solidFill>
                <a:latin typeface="Roboto Lt"/>
                <a:cs typeface="Roboto Lt"/>
              </a:rPr>
              <a:t>collection</a:t>
            </a:r>
            <a:r>
              <a:rPr sz="2400" spc="-5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2400" spc="-25" dirty="0">
                <a:solidFill>
                  <a:srgbClr val="E4DFDF"/>
                </a:solidFill>
                <a:latin typeface="Roboto Lt"/>
                <a:cs typeface="Roboto Lt"/>
              </a:rPr>
              <a:t>of </a:t>
            </a:r>
            <a:r>
              <a:rPr sz="2400" dirty="0">
                <a:solidFill>
                  <a:srgbClr val="E4DFDF"/>
                </a:solidFill>
                <a:latin typeface="Roboto Lt"/>
                <a:cs typeface="Roboto Lt"/>
              </a:rPr>
              <a:t>scanned</a:t>
            </a:r>
            <a:r>
              <a:rPr sz="2400" spc="-7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2400" dirty="0">
                <a:solidFill>
                  <a:srgbClr val="E4DFDF"/>
                </a:solidFill>
                <a:latin typeface="Roboto Lt"/>
                <a:cs typeface="Roboto Lt"/>
              </a:rPr>
              <a:t>document</a:t>
            </a:r>
            <a:r>
              <a:rPr sz="2400" spc="-75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2400" dirty="0">
                <a:solidFill>
                  <a:srgbClr val="E4DFDF"/>
                </a:solidFill>
                <a:latin typeface="Roboto Lt"/>
                <a:cs typeface="Roboto Lt"/>
              </a:rPr>
              <a:t>images</a:t>
            </a:r>
            <a:r>
              <a:rPr sz="2400" spc="-8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2400" dirty="0">
                <a:solidFill>
                  <a:srgbClr val="E4DFDF"/>
                </a:solidFill>
                <a:latin typeface="Roboto Lt"/>
                <a:cs typeface="Roboto Lt"/>
              </a:rPr>
              <a:t>from</a:t>
            </a:r>
            <a:r>
              <a:rPr sz="2400" spc="-65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2400" dirty="0">
                <a:solidFill>
                  <a:srgbClr val="E4DFDF"/>
                </a:solidFill>
                <a:latin typeface="Roboto Lt"/>
                <a:cs typeface="Roboto Lt"/>
              </a:rPr>
              <a:t>three</a:t>
            </a:r>
            <a:r>
              <a:rPr sz="2400" spc="-8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2400" spc="-10" dirty="0">
                <a:solidFill>
                  <a:srgbClr val="E4DFDF"/>
                </a:solidFill>
                <a:latin typeface="Roboto Lt"/>
                <a:cs typeface="Roboto Lt"/>
              </a:rPr>
              <a:t>major </a:t>
            </a:r>
            <a:r>
              <a:rPr sz="2400" dirty="0">
                <a:solidFill>
                  <a:srgbClr val="E4DFDF"/>
                </a:solidFill>
                <a:latin typeface="Roboto Lt"/>
                <a:cs typeface="Roboto Lt"/>
              </a:rPr>
              <a:t>scanner</a:t>
            </a:r>
            <a:r>
              <a:rPr sz="2400" spc="-5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2400" spc="-10" dirty="0">
                <a:solidFill>
                  <a:srgbClr val="E4DFDF"/>
                </a:solidFill>
                <a:latin typeface="Roboto Lt"/>
                <a:cs typeface="Roboto Lt"/>
              </a:rPr>
              <a:t>manufacturers:</a:t>
            </a:r>
            <a:r>
              <a:rPr sz="2400" spc="-3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2400" dirty="0">
                <a:solidFill>
                  <a:srgbClr val="E4DFDF"/>
                </a:solidFill>
                <a:latin typeface="Roboto Lt"/>
                <a:cs typeface="Roboto Lt"/>
              </a:rPr>
              <a:t>Canon,</a:t>
            </a:r>
            <a:r>
              <a:rPr sz="2400" spc="-5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2400" dirty="0">
                <a:solidFill>
                  <a:srgbClr val="E4DFDF"/>
                </a:solidFill>
                <a:latin typeface="Roboto Lt"/>
                <a:cs typeface="Roboto Lt"/>
              </a:rPr>
              <a:t>HP,</a:t>
            </a:r>
            <a:r>
              <a:rPr sz="2400" spc="-6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2400" dirty="0">
                <a:solidFill>
                  <a:srgbClr val="E4DFDF"/>
                </a:solidFill>
                <a:latin typeface="Roboto Lt"/>
                <a:cs typeface="Roboto Lt"/>
              </a:rPr>
              <a:t>and</a:t>
            </a:r>
            <a:r>
              <a:rPr sz="2400" spc="-5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2400" spc="-10" dirty="0">
                <a:solidFill>
                  <a:srgbClr val="E4DFDF"/>
                </a:solidFill>
                <a:latin typeface="Roboto Lt"/>
                <a:cs typeface="Roboto Lt"/>
              </a:rPr>
              <a:t>Epson. </a:t>
            </a:r>
            <a:r>
              <a:rPr sz="2400" dirty="0">
                <a:solidFill>
                  <a:srgbClr val="E4DFDF"/>
                </a:solidFill>
                <a:latin typeface="Roboto Lt"/>
                <a:cs typeface="Roboto Lt"/>
              </a:rPr>
              <a:t>Each</a:t>
            </a:r>
            <a:r>
              <a:rPr sz="2400" spc="-7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2400" dirty="0">
                <a:solidFill>
                  <a:srgbClr val="E4DFDF"/>
                </a:solidFill>
                <a:latin typeface="Roboto Lt"/>
                <a:cs typeface="Roboto Lt"/>
              </a:rPr>
              <a:t>brand</a:t>
            </a:r>
            <a:r>
              <a:rPr sz="2400" spc="-2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2400" spc="-10" dirty="0">
                <a:solidFill>
                  <a:srgbClr val="E4DFDF"/>
                </a:solidFill>
                <a:latin typeface="Roboto Lt"/>
                <a:cs typeface="Roboto Lt"/>
              </a:rPr>
              <a:t>exhibits</a:t>
            </a:r>
            <a:r>
              <a:rPr sz="2400" spc="-65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2400" spc="-10" dirty="0">
                <a:solidFill>
                  <a:srgbClr val="E4DFDF"/>
                </a:solidFill>
                <a:latin typeface="Roboto Lt"/>
                <a:cs typeface="Roboto Lt"/>
              </a:rPr>
              <a:t>distinctive</a:t>
            </a:r>
            <a:r>
              <a:rPr sz="2400" spc="-5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2400" spc="-10" dirty="0">
                <a:solidFill>
                  <a:srgbClr val="E4DFDF"/>
                </a:solidFill>
                <a:latin typeface="Roboto Lt"/>
                <a:cs typeface="Roboto Lt"/>
              </a:rPr>
              <a:t>scanning characteristics</a:t>
            </a:r>
            <a:r>
              <a:rPr sz="2400" spc="-3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2400" dirty="0">
                <a:solidFill>
                  <a:srgbClr val="E4DFDF"/>
                </a:solidFill>
                <a:latin typeface="Roboto Lt"/>
                <a:cs typeface="Roboto Lt"/>
              </a:rPr>
              <a:t>that</a:t>
            </a:r>
            <a:r>
              <a:rPr sz="2400" spc="-6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2400" dirty="0">
                <a:solidFill>
                  <a:srgbClr val="E4DFDF"/>
                </a:solidFill>
                <a:latin typeface="Roboto Lt"/>
                <a:cs typeface="Roboto Lt"/>
              </a:rPr>
              <a:t>serve</a:t>
            </a:r>
            <a:r>
              <a:rPr sz="2400" spc="-5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2400" dirty="0">
                <a:solidFill>
                  <a:srgbClr val="E4DFDF"/>
                </a:solidFill>
                <a:latin typeface="Roboto Lt"/>
                <a:cs typeface="Roboto Lt"/>
              </a:rPr>
              <a:t>as</a:t>
            </a:r>
            <a:r>
              <a:rPr sz="2400" spc="-5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2400" dirty="0">
                <a:solidFill>
                  <a:srgbClr val="E4DFDF"/>
                </a:solidFill>
                <a:latin typeface="Roboto Lt"/>
                <a:cs typeface="Roboto Lt"/>
              </a:rPr>
              <a:t>forensic</a:t>
            </a:r>
            <a:r>
              <a:rPr sz="2400" spc="-4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2400" spc="-10" dirty="0">
                <a:solidFill>
                  <a:srgbClr val="E4DFDF"/>
                </a:solidFill>
                <a:latin typeface="Roboto Lt"/>
                <a:cs typeface="Roboto Lt"/>
              </a:rPr>
              <a:t>fingerprints.</a:t>
            </a:r>
            <a:endParaRPr sz="2400">
              <a:latin typeface="Roboto Lt"/>
              <a:cs typeface="Roboto Lt"/>
            </a:endParaRPr>
          </a:p>
          <a:p>
            <a:pPr>
              <a:lnSpc>
                <a:spcPct val="100000"/>
              </a:lnSpc>
              <a:spcBef>
                <a:spcPts val="2550"/>
              </a:spcBef>
            </a:pPr>
            <a:endParaRPr sz="2400">
              <a:latin typeface="Roboto Lt"/>
              <a:cs typeface="Roboto Lt"/>
            </a:endParaRPr>
          </a:p>
          <a:p>
            <a:pPr marL="354965" indent="-342265">
              <a:lnSpc>
                <a:spcPct val="100000"/>
              </a:lnSpc>
              <a:buChar char="•"/>
              <a:tabLst>
                <a:tab pos="354965" algn="l"/>
              </a:tabLst>
            </a:pPr>
            <a:r>
              <a:rPr sz="2000" dirty="0">
                <a:solidFill>
                  <a:srgbClr val="E4DFDF"/>
                </a:solidFill>
                <a:latin typeface="Roboto Lt"/>
                <a:cs typeface="Roboto Lt"/>
              </a:rPr>
              <a:t>1000+</a:t>
            </a:r>
            <a:r>
              <a:rPr sz="2000" spc="-45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2000" dirty="0">
                <a:solidFill>
                  <a:srgbClr val="E4DFDF"/>
                </a:solidFill>
                <a:latin typeface="Roboto Lt"/>
                <a:cs typeface="Roboto Lt"/>
              </a:rPr>
              <a:t>scanned</a:t>
            </a:r>
            <a:r>
              <a:rPr sz="2000" spc="-25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2000" dirty="0">
                <a:solidFill>
                  <a:srgbClr val="E4DFDF"/>
                </a:solidFill>
                <a:latin typeface="Roboto Lt"/>
                <a:cs typeface="Roboto Lt"/>
              </a:rPr>
              <a:t>document</a:t>
            </a:r>
            <a:r>
              <a:rPr sz="2000" spc="-35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2000" spc="-10" dirty="0">
                <a:solidFill>
                  <a:srgbClr val="E4DFDF"/>
                </a:solidFill>
                <a:latin typeface="Roboto Lt"/>
                <a:cs typeface="Roboto Lt"/>
              </a:rPr>
              <a:t>images</a:t>
            </a:r>
            <a:endParaRPr sz="2000">
              <a:latin typeface="Roboto Lt"/>
              <a:cs typeface="Roboto Lt"/>
            </a:endParaRPr>
          </a:p>
          <a:p>
            <a:pPr marL="354965" indent="-342265">
              <a:lnSpc>
                <a:spcPct val="100000"/>
              </a:lnSpc>
              <a:spcBef>
                <a:spcPts val="2200"/>
              </a:spcBef>
              <a:buChar char="•"/>
              <a:tabLst>
                <a:tab pos="354965" algn="l"/>
              </a:tabLst>
            </a:pPr>
            <a:r>
              <a:rPr sz="2000" dirty="0">
                <a:solidFill>
                  <a:srgbClr val="E4DFDF"/>
                </a:solidFill>
                <a:latin typeface="Roboto Lt"/>
                <a:cs typeface="Roboto Lt"/>
              </a:rPr>
              <a:t>Multiple</a:t>
            </a:r>
            <a:r>
              <a:rPr sz="2000" spc="-75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2000" dirty="0">
                <a:solidFill>
                  <a:srgbClr val="E4DFDF"/>
                </a:solidFill>
                <a:latin typeface="Roboto Lt"/>
                <a:cs typeface="Roboto Lt"/>
              </a:rPr>
              <a:t>resolutions:</a:t>
            </a:r>
            <a:r>
              <a:rPr sz="2000" spc="-8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2000" dirty="0">
                <a:solidFill>
                  <a:srgbClr val="E4DFDF"/>
                </a:solidFill>
                <a:latin typeface="Roboto Lt"/>
                <a:cs typeface="Roboto Lt"/>
              </a:rPr>
              <a:t>150</a:t>
            </a:r>
            <a:r>
              <a:rPr sz="2000" spc="-45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2000" dirty="0">
                <a:solidFill>
                  <a:srgbClr val="E4DFDF"/>
                </a:solidFill>
                <a:latin typeface="Roboto Lt"/>
                <a:cs typeface="Roboto Lt"/>
              </a:rPr>
              <a:t>DPI</a:t>
            </a:r>
            <a:r>
              <a:rPr sz="2000" spc="-4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2000" dirty="0">
                <a:solidFill>
                  <a:srgbClr val="E4DFDF"/>
                </a:solidFill>
                <a:latin typeface="Roboto Lt"/>
                <a:cs typeface="Roboto Lt"/>
              </a:rPr>
              <a:t>and</a:t>
            </a:r>
            <a:r>
              <a:rPr sz="2000" spc="-45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2000" dirty="0">
                <a:solidFill>
                  <a:srgbClr val="E4DFDF"/>
                </a:solidFill>
                <a:latin typeface="Roboto Lt"/>
                <a:cs typeface="Roboto Lt"/>
              </a:rPr>
              <a:t>300</a:t>
            </a:r>
            <a:r>
              <a:rPr sz="2000" spc="-6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2000" spc="-25" dirty="0">
                <a:solidFill>
                  <a:srgbClr val="E4DFDF"/>
                </a:solidFill>
                <a:latin typeface="Roboto Lt"/>
                <a:cs typeface="Roboto Lt"/>
              </a:rPr>
              <a:t>DPI</a:t>
            </a:r>
            <a:endParaRPr sz="2000">
              <a:latin typeface="Roboto Lt"/>
              <a:cs typeface="Roboto Lt"/>
            </a:endParaRPr>
          </a:p>
          <a:p>
            <a:pPr marL="354965" indent="-342265">
              <a:lnSpc>
                <a:spcPct val="100000"/>
              </a:lnSpc>
              <a:spcBef>
                <a:spcPts val="2195"/>
              </a:spcBef>
              <a:buChar char="•"/>
              <a:tabLst>
                <a:tab pos="354965" algn="l"/>
              </a:tabLst>
            </a:pPr>
            <a:r>
              <a:rPr sz="2000" spc="-65" dirty="0">
                <a:solidFill>
                  <a:srgbClr val="E4DFDF"/>
                </a:solidFill>
                <a:latin typeface="Roboto Lt"/>
                <a:cs typeface="Roboto Lt"/>
              </a:rPr>
              <a:t>High-</a:t>
            </a:r>
            <a:r>
              <a:rPr sz="2000" dirty="0">
                <a:solidFill>
                  <a:srgbClr val="E4DFDF"/>
                </a:solidFill>
                <a:latin typeface="Roboto Lt"/>
                <a:cs typeface="Roboto Lt"/>
              </a:rPr>
              <a:t>quality</a:t>
            </a:r>
            <a:r>
              <a:rPr sz="2000" spc="-65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2000" dirty="0">
                <a:solidFill>
                  <a:srgbClr val="E4DFDF"/>
                </a:solidFill>
                <a:latin typeface="Roboto Lt"/>
                <a:cs typeface="Roboto Lt"/>
              </a:rPr>
              <a:t>TIFF</a:t>
            </a:r>
            <a:r>
              <a:rPr sz="2000" spc="-25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2000" dirty="0">
                <a:solidFill>
                  <a:srgbClr val="E4DFDF"/>
                </a:solidFill>
                <a:latin typeface="Roboto Lt"/>
                <a:cs typeface="Roboto Lt"/>
              </a:rPr>
              <a:t>format</a:t>
            </a:r>
            <a:r>
              <a:rPr sz="2000" spc="-2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2000" dirty="0">
                <a:solidFill>
                  <a:srgbClr val="E4DFDF"/>
                </a:solidFill>
                <a:latin typeface="Roboto Lt"/>
                <a:cs typeface="Roboto Lt"/>
              </a:rPr>
              <a:t>for</a:t>
            </a:r>
            <a:r>
              <a:rPr sz="2000" spc="-15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2000" dirty="0">
                <a:solidFill>
                  <a:srgbClr val="E4DFDF"/>
                </a:solidFill>
                <a:latin typeface="Roboto Lt"/>
                <a:cs typeface="Roboto Lt"/>
              </a:rPr>
              <a:t>maximum</a:t>
            </a:r>
            <a:r>
              <a:rPr sz="2000" spc="-3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2000" spc="-10" dirty="0">
                <a:solidFill>
                  <a:srgbClr val="E4DFDF"/>
                </a:solidFill>
                <a:latin typeface="Roboto Lt"/>
                <a:cs typeface="Roboto Lt"/>
              </a:rPr>
              <a:t>detail</a:t>
            </a:r>
            <a:endParaRPr sz="2000">
              <a:latin typeface="Roboto Lt"/>
              <a:cs typeface="Roboto Lt"/>
            </a:endParaRPr>
          </a:p>
          <a:p>
            <a:pPr marL="354965" indent="-342265">
              <a:lnSpc>
                <a:spcPct val="100000"/>
              </a:lnSpc>
              <a:spcBef>
                <a:spcPts val="1920"/>
              </a:spcBef>
              <a:buChar char="•"/>
              <a:tabLst>
                <a:tab pos="354965" algn="l"/>
              </a:tabLst>
            </a:pPr>
            <a:r>
              <a:rPr sz="2000" dirty="0">
                <a:solidFill>
                  <a:srgbClr val="E4DFDF"/>
                </a:solidFill>
                <a:latin typeface="Roboto Lt"/>
                <a:cs typeface="Roboto Lt"/>
              </a:rPr>
              <a:t>Carefully</a:t>
            </a:r>
            <a:r>
              <a:rPr sz="2000" spc="-5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2000" dirty="0">
                <a:solidFill>
                  <a:srgbClr val="E4DFDF"/>
                </a:solidFill>
                <a:latin typeface="Roboto Lt"/>
                <a:cs typeface="Roboto Lt"/>
              </a:rPr>
              <a:t>labeled</a:t>
            </a:r>
            <a:r>
              <a:rPr sz="2000" spc="-4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2000" dirty="0">
                <a:solidFill>
                  <a:srgbClr val="E4DFDF"/>
                </a:solidFill>
                <a:latin typeface="Roboto Lt"/>
                <a:cs typeface="Roboto Lt"/>
              </a:rPr>
              <a:t>dataset</a:t>
            </a:r>
            <a:r>
              <a:rPr sz="2000" spc="-7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2000" dirty="0">
                <a:solidFill>
                  <a:srgbClr val="E4DFDF"/>
                </a:solidFill>
                <a:latin typeface="Roboto Lt"/>
                <a:cs typeface="Roboto Lt"/>
              </a:rPr>
              <a:t>with</a:t>
            </a:r>
            <a:r>
              <a:rPr sz="2000" spc="-5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2000" dirty="0">
                <a:solidFill>
                  <a:srgbClr val="E4DFDF"/>
                </a:solidFill>
                <a:latin typeface="Roboto Lt"/>
                <a:cs typeface="Roboto Lt"/>
              </a:rPr>
              <a:t>brand</a:t>
            </a:r>
            <a:r>
              <a:rPr sz="2000" spc="-35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2000" spc="-10" dirty="0">
                <a:solidFill>
                  <a:srgbClr val="E4DFDF"/>
                </a:solidFill>
                <a:latin typeface="Roboto Lt"/>
                <a:cs typeface="Roboto Lt"/>
              </a:rPr>
              <a:t>annotations</a:t>
            </a:r>
            <a:endParaRPr sz="2000">
              <a:latin typeface="Roboto Lt"/>
              <a:cs typeface="Roboto L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2530835" y="7582213"/>
            <a:ext cx="2031364" cy="617855"/>
            <a:chOff x="12530835" y="7582213"/>
            <a:chExt cx="2031364" cy="617855"/>
          </a:xfrm>
        </p:grpSpPr>
        <p:sp>
          <p:nvSpPr>
            <p:cNvPr id="3" name="object 3"/>
            <p:cNvSpPr/>
            <p:nvPr/>
          </p:nvSpPr>
          <p:spPr>
            <a:xfrm>
              <a:off x="12537185" y="7588563"/>
              <a:ext cx="1983105" cy="605155"/>
            </a:xfrm>
            <a:custGeom>
              <a:avLst/>
              <a:gdLst/>
              <a:ahLst/>
              <a:cxnLst/>
              <a:rect l="l" t="t" r="r" b="b"/>
              <a:pathLst>
                <a:path w="1983105" h="605154">
                  <a:moveTo>
                    <a:pt x="1982977" y="0"/>
                  </a:moveTo>
                  <a:lnTo>
                    <a:pt x="0" y="0"/>
                  </a:lnTo>
                  <a:lnTo>
                    <a:pt x="0" y="605078"/>
                  </a:lnTo>
                  <a:lnTo>
                    <a:pt x="1982977" y="605078"/>
                  </a:lnTo>
                  <a:lnTo>
                    <a:pt x="198297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2537185" y="7588563"/>
              <a:ext cx="1983105" cy="605155"/>
            </a:xfrm>
            <a:custGeom>
              <a:avLst/>
              <a:gdLst/>
              <a:ahLst/>
              <a:cxnLst/>
              <a:rect l="l" t="t" r="r" b="b"/>
              <a:pathLst>
                <a:path w="1983105" h="605154">
                  <a:moveTo>
                    <a:pt x="0" y="605078"/>
                  </a:moveTo>
                  <a:lnTo>
                    <a:pt x="1982977" y="605078"/>
                  </a:lnTo>
                  <a:lnTo>
                    <a:pt x="1982977" y="0"/>
                  </a:lnTo>
                  <a:lnTo>
                    <a:pt x="0" y="0"/>
                  </a:lnTo>
                  <a:lnTo>
                    <a:pt x="0" y="605078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3933" rIns="0" bIns="0" rtlCol="0">
            <a:spAutoFit/>
          </a:bodyPr>
          <a:lstStyle/>
          <a:p>
            <a:pPr marL="76200">
              <a:lnSpc>
                <a:spcPct val="100000"/>
              </a:lnSpc>
              <a:spcBef>
                <a:spcPts val="95"/>
              </a:spcBef>
            </a:pPr>
            <a:r>
              <a:rPr sz="4300" spc="215" dirty="0"/>
              <a:t>Image</a:t>
            </a:r>
            <a:r>
              <a:rPr sz="4300" spc="-155" dirty="0"/>
              <a:t> </a:t>
            </a:r>
            <a:r>
              <a:rPr sz="4300" spc="60" dirty="0"/>
              <a:t>Preprocessing</a:t>
            </a:r>
            <a:r>
              <a:rPr sz="4300" spc="-165" dirty="0"/>
              <a:t> </a:t>
            </a:r>
            <a:r>
              <a:rPr sz="4300" spc="-10" dirty="0"/>
              <a:t>Pipeline</a:t>
            </a:r>
            <a:endParaRPr sz="4300"/>
          </a:p>
        </p:txBody>
      </p:sp>
      <p:sp>
        <p:nvSpPr>
          <p:cNvPr id="6" name="object 6"/>
          <p:cNvSpPr txBox="1"/>
          <p:nvPr/>
        </p:nvSpPr>
        <p:spPr>
          <a:xfrm>
            <a:off x="756310" y="2278649"/>
            <a:ext cx="13118465" cy="2136140"/>
          </a:xfrm>
          <a:prstGeom prst="rect">
            <a:avLst/>
          </a:prstGeom>
        </p:spPr>
        <p:txBody>
          <a:bodyPr vert="horz" wrap="square" lIns="0" tIns="1631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85"/>
              </a:spcBef>
              <a:tabLst>
                <a:tab pos="4229735" algn="l"/>
                <a:tab pos="4450080" algn="l"/>
                <a:tab pos="8667115" algn="l"/>
                <a:tab pos="8888095" algn="l"/>
                <a:tab pos="13105130" algn="l"/>
              </a:tabLst>
            </a:pPr>
            <a:r>
              <a:rPr sz="1700" u="heavy" spc="-340" dirty="0">
                <a:solidFill>
                  <a:srgbClr val="E4DFDF"/>
                </a:solidFill>
                <a:uFill>
                  <a:solidFill>
                    <a:srgbClr val="F1F1F3"/>
                  </a:solidFill>
                </a:uFill>
                <a:latin typeface="Lucida Sans Unicode"/>
                <a:cs typeface="Lucida Sans Unicode"/>
              </a:rPr>
              <a:t>01</a:t>
            </a:r>
            <a:r>
              <a:rPr sz="1700" u="heavy" dirty="0">
                <a:solidFill>
                  <a:srgbClr val="E4DFDF"/>
                </a:solidFill>
                <a:uFill>
                  <a:solidFill>
                    <a:srgbClr val="F1F1F3"/>
                  </a:solidFill>
                </a:uFill>
                <a:latin typeface="Lucida Sans Unicode"/>
                <a:cs typeface="Lucida Sans Unicode"/>
              </a:rPr>
              <a:t>	</a:t>
            </a:r>
            <a:r>
              <a:rPr sz="1700" dirty="0">
                <a:solidFill>
                  <a:srgbClr val="E4DFDF"/>
                </a:solidFill>
                <a:latin typeface="Lucida Sans Unicode"/>
                <a:cs typeface="Lucida Sans Unicode"/>
              </a:rPr>
              <a:t>	</a:t>
            </a:r>
            <a:r>
              <a:rPr sz="1700" u="heavy" spc="-25" dirty="0">
                <a:solidFill>
                  <a:srgbClr val="E4DFDF"/>
                </a:solidFill>
                <a:uFill>
                  <a:solidFill>
                    <a:srgbClr val="F1F1F3"/>
                  </a:solidFill>
                </a:uFill>
                <a:latin typeface="Lucida Sans Unicode"/>
                <a:cs typeface="Lucida Sans Unicode"/>
              </a:rPr>
              <a:t>02</a:t>
            </a:r>
            <a:r>
              <a:rPr sz="1700" u="heavy" dirty="0">
                <a:solidFill>
                  <a:srgbClr val="E4DFDF"/>
                </a:solidFill>
                <a:uFill>
                  <a:solidFill>
                    <a:srgbClr val="F1F1F3"/>
                  </a:solidFill>
                </a:uFill>
                <a:latin typeface="Lucida Sans Unicode"/>
                <a:cs typeface="Lucida Sans Unicode"/>
              </a:rPr>
              <a:t>	</a:t>
            </a:r>
            <a:r>
              <a:rPr sz="1700" dirty="0">
                <a:solidFill>
                  <a:srgbClr val="E4DFDF"/>
                </a:solidFill>
                <a:latin typeface="Lucida Sans Unicode"/>
                <a:cs typeface="Lucida Sans Unicode"/>
              </a:rPr>
              <a:t>	</a:t>
            </a:r>
            <a:r>
              <a:rPr sz="1700" u="heavy" spc="-25" dirty="0">
                <a:solidFill>
                  <a:srgbClr val="E4DFDF"/>
                </a:solidFill>
                <a:uFill>
                  <a:solidFill>
                    <a:srgbClr val="F1F1F3"/>
                  </a:solidFill>
                </a:uFill>
                <a:latin typeface="Lucida Sans Unicode"/>
                <a:cs typeface="Lucida Sans Unicode"/>
              </a:rPr>
              <a:t>03</a:t>
            </a:r>
            <a:r>
              <a:rPr sz="1700" u="heavy" dirty="0">
                <a:solidFill>
                  <a:srgbClr val="E4DFDF"/>
                </a:solidFill>
                <a:uFill>
                  <a:solidFill>
                    <a:srgbClr val="F1F1F3"/>
                  </a:solidFill>
                </a:uFill>
                <a:latin typeface="Lucida Sans Unicode"/>
                <a:cs typeface="Lucida Sans Unicode"/>
              </a:rPr>
              <a:t>	</a:t>
            </a:r>
            <a:endParaRPr sz="17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1485"/>
              </a:spcBef>
              <a:tabLst>
                <a:tab pos="4450080" algn="l"/>
                <a:tab pos="8888095" algn="l"/>
              </a:tabLst>
            </a:pPr>
            <a:r>
              <a:rPr sz="2150" spc="85" dirty="0">
                <a:solidFill>
                  <a:srgbClr val="E4DFDF"/>
                </a:solidFill>
                <a:latin typeface="Lucida Sans Unicode"/>
                <a:cs typeface="Lucida Sans Unicode"/>
              </a:rPr>
              <a:t>Grayscale</a:t>
            </a:r>
            <a:r>
              <a:rPr sz="2150" spc="-55" dirty="0">
                <a:solidFill>
                  <a:srgbClr val="E4DFDF"/>
                </a:solidFill>
                <a:latin typeface="Lucida Sans Unicode"/>
                <a:cs typeface="Lucida Sans Unicode"/>
              </a:rPr>
              <a:t> </a:t>
            </a:r>
            <a:r>
              <a:rPr sz="2150" spc="-10" dirty="0">
                <a:solidFill>
                  <a:srgbClr val="E4DFDF"/>
                </a:solidFill>
                <a:latin typeface="Lucida Sans Unicode"/>
                <a:cs typeface="Lucida Sans Unicode"/>
              </a:rPr>
              <a:t>Conversion</a:t>
            </a:r>
            <a:r>
              <a:rPr sz="2150" dirty="0">
                <a:solidFill>
                  <a:srgbClr val="E4DFDF"/>
                </a:solidFill>
                <a:latin typeface="Lucida Sans Unicode"/>
                <a:cs typeface="Lucida Sans Unicode"/>
              </a:rPr>
              <a:t>	</a:t>
            </a:r>
            <a:r>
              <a:rPr sz="2150" spc="105" dirty="0">
                <a:solidFill>
                  <a:srgbClr val="E4DFDF"/>
                </a:solidFill>
                <a:latin typeface="Lucida Sans Unicode"/>
                <a:cs typeface="Lucida Sans Unicode"/>
              </a:rPr>
              <a:t>Image</a:t>
            </a:r>
            <a:r>
              <a:rPr sz="2150" spc="-85" dirty="0">
                <a:solidFill>
                  <a:srgbClr val="E4DFDF"/>
                </a:solidFill>
                <a:latin typeface="Lucida Sans Unicode"/>
                <a:cs typeface="Lucida Sans Unicode"/>
              </a:rPr>
              <a:t> </a:t>
            </a:r>
            <a:r>
              <a:rPr sz="2150" spc="-10" dirty="0">
                <a:solidFill>
                  <a:srgbClr val="E4DFDF"/>
                </a:solidFill>
                <a:latin typeface="Lucida Sans Unicode"/>
                <a:cs typeface="Lucida Sans Unicode"/>
              </a:rPr>
              <a:t>Resizing</a:t>
            </a:r>
            <a:r>
              <a:rPr sz="2150" dirty="0">
                <a:solidFill>
                  <a:srgbClr val="E4DFDF"/>
                </a:solidFill>
                <a:latin typeface="Lucida Sans Unicode"/>
                <a:cs typeface="Lucida Sans Unicode"/>
              </a:rPr>
              <a:t>	</a:t>
            </a:r>
            <a:r>
              <a:rPr sz="2150" spc="-95" dirty="0">
                <a:solidFill>
                  <a:srgbClr val="E4DFDF"/>
                </a:solidFill>
                <a:latin typeface="Lucida Sans Unicode"/>
                <a:cs typeface="Lucida Sans Unicode"/>
              </a:rPr>
              <a:t>Pixel</a:t>
            </a:r>
            <a:r>
              <a:rPr sz="2150" spc="-70" dirty="0">
                <a:solidFill>
                  <a:srgbClr val="E4DFDF"/>
                </a:solidFill>
                <a:latin typeface="Lucida Sans Unicode"/>
                <a:cs typeface="Lucida Sans Unicode"/>
              </a:rPr>
              <a:t> </a:t>
            </a:r>
            <a:r>
              <a:rPr sz="2150" spc="-10" dirty="0">
                <a:solidFill>
                  <a:srgbClr val="E4DFDF"/>
                </a:solidFill>
                <a:latin typeface="Lucida Sans Unicode"/>
                <a:cs typeface="Lucida Sans Unicode"/>
              </a:rPr>
              <a:t>Normalization</a:t>
            </a:r>
            <a:endParaRPr sz="2150">
              <a:latin typeface="Lucida Sans Unicode"/>
              <a:cs typeface="Lucida Sans Unicode"/>
            </a:endParaRPr>
          </a:p>
          <a:p>
            <a:pPr marL="12700" marR="185420">
              <a:lnSpc>
                <a:spcPct val="137400"/>
              </a:lnSpc>
              <a:spcBef>
                <a:spcPts val="919"/>
              </a:spcBef>
              <a:tabLst>
                <a:tab pos="4450080" algn="l"/>
                <a:tab pos="8888095" algn="l"/>
              </a:tabLst>
            </a:pPr>
            <a:r>
              <a:rPr sz="1700" dirty="0">
                <a:solidFill>
                  <a:srgbClr val="E4DFDF"/>
                </a:solidFill>
                <a:latin typeface="Roboto Lt"/>
                <a:cs typeface="Roboto Lt"/>
              </a:rPr>
              <a:t>Converted</a:t>
            </a:r>
            <a:r>
              <a:rPr sz="1700" spc="-6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700" dirty="0">
                <a:solidFill>
                  <a:srgbClr val="E4DFDF"/>
                </a:solidFill>
                <a:latin typeface="Roboto Lt"/>
                <a:cs typeface="Roboto Lt"/>
              </a:rPr>
              <a:t>color</a:t>
            </a:r>
            <a:r>
              <a:rPr sz="1700" spc="-55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700" dirty="0">
                <a:solidFill>
                  <a:srgbClr val="E4DFDF"/>
                </a:solidFill>
                <a:latin typeface="Roboto Lt"/>
                <a:cs typeface="Roboto Lt"/>
              </a:rPr>
              <a:t>images</a:t>
            </a:r>
            <a:r>
              <a:rPr sz="1700" spc="-5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700" dirty="0">
                <a:solidFill>
                  <a:srgbClr val="E4DFDF"/>
                </a:solidFill>
                <a:latin typeface="Roboto Lt"/>
                <a:cs typeface="Roboto Lt"/>
              </a:rPr>
              <a:t>to</a:t>
            </a:r>
            <a:r>
              <a:rPr sz="1700" spc="-4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700" dirty="0">
                <a:solidFill>
                  <a:srgbClr val="E4DFDF"/>
                </a:solidFill>
                <a:latin typeface="Roboto Lt"/>
                <a:cs typeface="Roboto Lt"/>
              </a:rPr>
              <a:t>grayscale</a:t>
            </a:r>
            <a:r>
              <a:rPr sz="1700" spc="-55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700" spc="-25" dirty="0">
                <a:solidFill>
                  <a:srgbClr val="E4DFDF"/>
                </a:solidFill>
                <a:latin typeface="Roboto Lt"/>
                <a:cs typeface="Roboto Lt"/>
              </a:rPr>
              <a:t>to</a:t>
            </a:r>
            <a:r>
              <a:rPr sz="1700" dirty="0">
                <a:solidFill>
                  <a:srgbClr val="E4DFDF"/>
                </a:solidFill>
                <a:latin typeface="Roboto Lt"/>
                <a:cs typeface="Roboto Lt"/>
              </a:rPr>
              <a:t>	Standardized</a:t>
            </a:r>
            <a:r>
              <a:rPr sz="1700" spc="-3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700" dirty="0">
                <a:solidFill>
                  <a:srgbClr val="E4DFDF"/>
                </a:solidFill>
                <a:latin typeface="Roboto Lt"/>
                <a:cs typeface="Roboto Lt"/>
              </a:rPr>
              <a:t>all</a:t>
            </a:r>
            <a:r>
              <a:rPr sz="1700" spc="-3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700" dirty="0">
                <a:solidFill>
                  <a:srgbClr val="E4DFDF"/>
                </a:solidFill>
                <a:latin typeface="Roboto Lt"/>
                <a:cs typeface="Roboto Lt"/>
              </a:rPr>
              <a:t>images</a:t>
            </a:r>
            <a:r>
              <a:rPr sz="1700" spc="-3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700" dirty="0">
                <a:solidFill>
                  <a:srgbClr val="E4DFDF"/>
                </a:solidFill>
                <a:latin typeface="Roboto Lt"/>
                <a:cs typeface="Roboto Lt"/>
              </a:rPr>
              <a:t>to</a:t>
            </a:r>
            <a:r>
              <a:rPr sz="1700" spc="-5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700" dirty="0">
                <a:solidFill>
                  <a:srgbClr val="E4DFDF"/>
                </a:solidFill>
                <a:latin typeface="Roboto Lt"/>
                <a:cs typeface="Roboto Lt"/>
              </a:rPr>
              <a:t>a</a:t>
            </a:r>
            <a:r>
              <a:rPr sz="1700" spc="-25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700" spc="-10" dirty="0">
                <a:solidFill>
                  <a:srgbClr val="E4DFDF"/>
                </a:solidFill>
                <a:latin typeface="Roboto Lt"/>
                <a:cs typeface="Roboto Lt"/>
              </a:rPr>
              <a:t>fixed</a:t>
            </a:r>
            <a:r>
              <a:rPr sz="1700" dirty="0">
                <a:solidFill>
                  <a:srgbClr val="E4DFDF"/>
                </a:solidFill>
                <a:latin typeface="Roboto Lt"/>
                <a:cs typeface="Roboto Lt"/>
              </a:rPr>
              <a:t>	Scaled</a:t>
            </a:r>
            <a:r>
              <a:rPr sz="1700" spc="-3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700" dirty="0">
                <a:solidFill>
                  <a:srgbClr val="E4DFDF"/>
                </a:solidFill>
                <a:latin typeface="Roboto Lt"/>
                <a:cs typeface="Roboto Lt"/>
              </a:rPr>
              <a:t>pixel</a:t>
            </a:r>
            <a:r>
              <a:rPr sz="1700" spc="-45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700" dirty="0">
                <a:solidFill>
                  <a:srgbClr val="E4DFDF"/>
                </a:solidFill>
                <a:latin typeface="Roboto Lt"/>
                <a:cs typeface="Roboto Lt"/>
              </a:rPr>
              <a:t>values</a:t>
            </a:r>
            <a:r>
              <a:rPr sz="1700" spc="-3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700" dirty="0">
                <a:solidFill>
                  <a:srgbClr val="E4DFDF"/>
                </a:solidFill>
                <a:latin typeface="Roboto Lt"/>
                <a:cs typeface="Roboto Lt"/>
              </a:rPr>
              <a:t>to</a:t>
            </a:r>
            <a:r>
              <a:rPr sz="1700" spc="-4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700" dirty="0">
                <a:solidFill>
                  <a:srgbClr val="E4DFDF"/>
                </a:solidFill>
                <a:latin typeface="Roboto Lt"/>
                <a:cs typeface="Roboto Lt"/>
              </a:rPr>
              <a:t>a</a:t>
            </a:r>
            <a:r>
              <a:rPr sz="1700" spc="-4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700" dirty="0">
                <a:solidFill>
                  <a:srgbClr val="E4DFDF"/>
                </a:solidFill>
                <a:latin typeface="Roboto Lt"/>
                <a:cs typeface="Roboto Lt"/>
              </a:rPr>
              <a:t>standard</a:t>
            </a:r>
            <a:r>
              <a:rPr sz="1700" spc="-25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700" spc="-10" dirty="0">
                <a:solidFill>
                  <a:srgbClr val="E4DFDF"/>
                </a:solidFill>
                <a:latin typeface="Roboto Lt"/>
                <a:cs typeface="Roboto Lt"/>
              </a:rPr>
              <a:t>range, </a:t>
            </a:r>
            <a:r>
              <a:rPr sz="1700" dirty="0">
                <a:solidFill>
                  <a:srgbClr val="E4DFDF"/>
                </a:solidFill>
                <a:latin typeface="Roboto Lt"/>
                <a:cs typeface="Roboto Lt"/>
              </a:rPr>
              <a:t>focus</a:t>
            </a:r>
            <a:r>
              <a:rPr sz="1700" spc="-6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700" dirty="0">
                <a:solidFill>
                  <a:srgbClr val="E4DFDF"/>
                </a:solidFill>
                <a:latin typeface="Roboto Lt"/>
                <a:cs typeface="Roboto Lt"/>
              </a:rPr>
              <a:t>on</a:t>
            </a:r>
            <a:r>
              <a:rPr sz="1700" spc="-4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700" dirty="0">
                <a:solidFill>
                  <a:srgbClr val="E4DFDF"/>
                </a:solidFill>
                <a:latin typeface="Roboto Lt"/>
                <a:cs typeface="Roboto Lt"/>
              </a:rPr>
              <a:t>texture</a:t>
            </a:r>
            <a:r>
              <a:rPr sz="1700" spc="-5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700" dirty="0">
                <a:solidFill>
                  <a:srgbClr val="E4DFDF"/>
                </a:solidFill>
                <a:latin typeface="Roboto Lt"/>
                <a:cs typeface="Roboto Lt"/>
              </a:rPr>
              <a:t>and</a:t>
            </a:r>
            <a:r>
              <a:rPr sz="1700" spc="-5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700" dirty="0">
                <a:solidFill>
                  <a:srgbClr val="E4DFDF"/>
                </a:solidFill>
                <a:latin typeface="Roboto Lt"/>
                <a:cs typeface="Roboto Lt"/>
              </a:rPr>
              <a:t>noise</a:t>
            </a:r>
            <a:r>
              <a:rPr sz="1700" spc="-5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700" dirty="0">
                <a:solidFill>
                  <a:srgbClr val="E4DFDF"/>
                </a:solidFill>
                <a:latin typeface="Roboto Lt"/>
                <a:cs typeface="Roboto Lt"/>
              </a:rPr>
              <a:t>patterns</a:t>
            </a:r>
            <a:r>
              <a:rPr sz="1700" spc="-65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700" spc="-10" dirty="0">
                <a:solidFill>
                  <a:srgbClr val="E4DFDF"/>
                </a:solidFill>
                <a:latin typeface="Roboto Lt"/>
                <a:cs typeface="Roboto Lt"/>
              </a:rPr>
              <a:t>rather</a:t>
            </a:r>
            <a:r>
              <a:rPr sz="1700" dirty="0">
                <a:solidFill>
                  <a:srgbClr val="E4DFDF"/>
                </a:solidFill>
                <a:latin typeface="Roboto Lt"/>
                <a:cs typeface="Roboto Lt"/>
              </a:rPr>
              <a:t>	dimension</a:t>
            </a:r>
            <a:r>
              <a:rPr sz="1700" spc="-5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700" dirty="0">
                <a:solidFill>
                  <a:srgbClr val="E4DFDF"/>
                </a:solidFill>
                <a:latin typeface="Roboto Lt"/>
                <a:cs typeface="Roboto Lt"/>
              </a:rPr>
              <a:t>to</a:t>
            </a:r>
            <a:r>
              <a:rPr sz="1700" spc="-45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700" dirty="0">
                <a:solidFill>
                  <a:srgbClr val="E4DFDF"/>
                </a:solidFill>
                <a:latin typeface="Roboto Lt"/>
                <a:cs typeface="Roboto Lt"/>
              </a:rPr>
              <a:t>ensure</a:t>
            </a:r>
            <a:r>
              <a:rPr sz="1700" spc="-55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700" dirty="0">
                <a:solidFill>
                  <a:srgbClr val="E4DFDF"/>
                </a:solidFill>
                <a:latin typeface="Roboto Lt"/>
                <a:cs typeface="Roboto Lt"/>
              </a:rPr>
              <a:t>consistent</a:t>
            </a:r>
            <a:r>
              <a:rPr sz="1700" spc="-6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700" dirty="0">
                <a:solidFill>
                  <a:srgbClr val="E4DFDF"/>
                </a:solidFill>
                <a:latin typeface="Roboto Lt"/>
                <a:cs typeface="Roboto Lt"/>
              </a:rPr>
              <a:t>input</a:t>
            </a:r>
            <a:r>
              <a:rPr sz="1700" spc="-5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700" spc="-25" dirty="0">
                <a:solidFill>
                  <a:srgbClr val="E4DFDF"/>
                </a:solidFill>
                <a:latin typeface="Roboto Lt"/>
                <a:cs typeface="Roboto Lt"/>
              </a:rPr>
              <a:t>for</a:t>
            </a:r>
            <a:r>
              <a:rPr sz="1700" dirty="0">
                <a:solidFill>
                  <a:srgbClr val="E4DFDF"/>
                </a:solidFill>
                <a:latin typeface="Roboto Lt"/>
                <a:cs typeface="Roboto Lt"/>
              </a:rPr>
              <a:t>	</a:t>
            </a:r>
            <a:r>
              <a:rPr sz="1700" spc="-10" dirty="0">
                <a:solidFill>
                  <a:srgbClr val="E4DFDF"/>
                </a:solidFill>
                <a:latin typeface="Roboto Lt"/>
                <a:cs typeface="Roboto Lt"/>
              </a:rPr>
              <a:t>improving</a:t>
            </a:r>
            <a:r>
              <a:rPr sz="1700" spc="-3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700" dirty="0">
                <a:solidFill>
                  <a:srgbClr val="E4DFDF"/>
                </a:solidFill>
                <a:latin typeface="Roboto Lt"/>
                <a:cs typeface="Roboto Lt"/>
              </a:rPr>
              <a:t>model</a:t>
            </a:r>
            <a:r>
              <a:rPr sz="1700" spc="-2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700" spc="-10" dirty="0">
                <a:solidFill>
                  <a:srgbClr val="E4DFDF"/>
                </a:solidFill>
                <a:latin typeface="Roboto Lt"/>
                <a:cs typeface="Roboto Lt"/>
              </a:rPr>
              <a:t>convergence</a:t>
            </a:r>
            <a:r>
              <a:rPr sz="1700" spc="-35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700" dirty="0">
                <a:solidFill>
                  <a:srgbClr val="E4DFDF"/>
                </a:solidFill>
                <a:latin typeface="Roboto Lt"/>
                <a:cs typeface="Roboto Lt"/>
              </a:rPr>
              <a:t>and</a:t>
            </a:r>
            <a:r>
              <a:rPr sz="1700" spc="-10" dirty="0">
                <a:solidFill>
                  <a:srgbClr val="E4DFDF"/>
                </a:solidFill>
                <a:latin typeface="Roboto Lt"/>
                <a:cs typeface="Roboto Lt"/>
              </a:rPr>
              <a:t> training </a:t>
            </a:r>
            <a:r>
              <a:rPr sz="1700" dirty="0">
                <a:solidFill>
                  <a:srgbClr val="E4DFDF"/>
                </a:solidFill>
                <a:latin typeface="Roboto Lt"/>
                <a:cs typeface="Roboto Lt"/>
              </a:rPr>
              <a:t>than</a:t>
            </a:r>
            <a:r>
              <a:rPr sz="1700" spc="-3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700" dirty="0">
                <a:solidFill>
                  <a:srgbClr val="E4DFDF"/>
                </a:solidFill>
                <a:latin typeface="Roboto Lt"/>
                <a:cs typeface="Roboto Lt"/>
              </a:rPr>
              <a:t>color</a:t>
            </a:r>
            <a:r>
              <a:rPr sz="1700" spc="-35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700" spc="-10" dirty="0">
                <a:solidFill>
                  <a:srgbClr val="E4DFDF"/>
                </a:solidFill>
                <a:latin typeface="Roboto Lt"/>
                <a:cs typeface="Roboto Lt"/>
              </a:rPr>
              <a:t>variations</a:t>
            </a:r>
            <a:r>
              <a:rPr sz="1700" dirty="0">
                <a:solidFill>
                  <a:srgbClr val="E4DFDF"/>
                </a:solidFill>
                <a:latin typeface="Roboto Lt"/>
                <a:cs typeface="Roboto Lt"/>
              </a:rPr>
              <a:t>	model</a:t>
            </a:r>
            <a:r>
              <a:rPr sz="1700" spc="-25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700" spc="-10" dirty="0">
                <a:solidFill>
                  <a:srgbClr val="E4DFDF"/>
                </a:solidFill>
                <a:latin typeface="Roboto Lt"/>
                <a:cs typeface="Roboto Lt"/>
              </a:rPr>
              <a:t>training</a:t>
            </a:r>
            <a:r>
              <a:rPr sz="1700" dirty="0">
                <a:solidFill>
                  <a:srgbClr val="E4DFDF"/>
                </a:solidFill>
                <a:latin typeface="Roboto Lt"/>
                <a:cs typeface="Roboto Lt"/>
              </a:rPr>
              <a:t>	</a:t>
            </a:r>
            <a:r>
              <a:rPr sz="1700" spc="-10" dirty="0">
                <a:solidFill>
                  <a:srgbClr val="E4DFDF"/>
                </a:solidFill>
                <a:latin typeface="Roboto Lt"/>
                <a:cs typeface="Roboto Lt"/>
              </a:rPr>
              <a:t>stability</a:t>
            </a:r>
            <a:endParaRPr sz="1700">
              <a:latin typeface="Roboto Lt"/>
              <a:cs typeface="Roboto L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56310" y="4707712"/>
            <a:ext cx="6461760" cy="1778635"/>
          </a:xfrm>
          <a:prstGeom prst="rect">
            <a:avLst/>
          </a:prstGeom>
        </p:spPr>
        <p:txBody>
          <a:bodyPr vert="horz" wrap="square" lIns="0" tIns="1619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75"/>
              </a:spcBef>
              <a:tabLst>
                <a:tab pos="6448425" algn="l"/>
              </a:tabLst>
            </a:pPr>
            <a:r>
              <a:rPr sz="1700" u="heavy" spc="-25" dirty="0">
                <a:solidFill>
                  <a:srgbClr val="E4DFDF"/>
                </a:solidFill>
                <a:uFill>
                  <a:solidFill>
                    <a:srgbClr val="F1F1F3"/>
                  </a:solidFill>
                </a:uFill>
                <a:latin typeface="Lucida Sans Unicode"/>
                <a:cs typeface="Lucida Sans Unicode"/>
              </a:rPr>
              <a:t>04</a:t>
            </a:r>
            <a:r>
              <a:rPr sz="1700" u="heavy" dirty="0">
                <a:solidFill>
                  <a:srgbClr val="E4DFDF"/>
                </a:solidFill>
                <a:uFill>
                  <a:solidFill>
                    <a:srgbClr val="F1F1F3"/>
                  </a:solidFill>
                </a:uFill>
                <a:latin typeface="Lucida Sans Unicode"/>
                <a:cs typeface="Lucida Sans Unicode"/>
              </a:rPr>
              <a:t>	</a:t>
            </a:r>
            <a:endParaRPr sz="17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1485"/>
              </a:spcBef>
            </a:pPr>
            <a:r>
              <a:rPr sz="2150" spc="-150" dirty="0">
                <a:solidFill>
                  <a:srgbClr val="E4DFDF"/>
                </a:solidFill>
                <a:latin typeface="Lucida Sans Unicode"/>
                <a:cs typeface="Lucida Sans Unicode"/>
              </a:rPr>
              <a:t>TIFF</a:t>
            </a:r>
            <a:r>
              <a:rPr sz="2150" spc="-70" dirty="0">
                <a:solidFill>
                  <a:srgbClr val="E4DFDF"/>
                </a:solidFill>
                <a:latin typeface="Lucida Sans Unicode"/>
                <a:cs typeface="Lucida Sans Unicode"/>
              </a:rPr>
              <a:t> </a:t>
            </a:r>
            <a:r>
              <a:rPr sz="2150" spc="-10" dirty="0">
                <a:solidFill>
                  <a:srgbClr val="E4DFDF"/>
                </a:solidFill>
                <a:latin typeface="Lucida Sans Unicode"/>
                <a:cs typeface="Lucida Sans Unicode"/>
              </a:rPr>
              <a:t>Handling</a:t>
            </a:r>
            <a:endParaRPr sz="2150">
              <a:latin typeface="Lucida Sans Unicode"/>
              <a:cs typeface="Lucida Sans Unicode"/>
            </a:endParaRPr>
          </a:p>
          <a:p>
            <a:pPr marL="12700" marR="39370">
              <a:lnSpc>
                <a:spcPct val="137200"/>
              </a:lnSpc>
              <a:spcBef>
                <a:spcPts val="925"/>
              </a:spcBef>
            </a:pPr>
            <a:r>
              <a:rPr sz="1700" spc="-10" dirty="0">
                <a:solidFill>
                  <a:srgbClr val="E4DFDF"/>
                </a:solidFill>
                <a:latin typeface="Roboto Lt"/>
                <a:cs typeface="Roboto Lt"/>
              </a:rPr>
              <a:t>Implemented</a:t>
            </a:r>
            <a:r>
              <a:rPr sz="1700" spc="-35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700" dirty="0">
                <a:solidFill>
                  <a:srgbClr val="E4DFDF"/>
                </a:solidFill>
                <a:latin typeface="Roboto Lt"/>
                <a:cs typeface="Roboto Lt"/>
              </a:rPr>
              <a:t>specialized</a:t>
            </a:r>
            <a:r>
              <a:rPr sz="1700" spc="-2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700" spc="-10" dirty="0">
                <a:solidFill>
                  <a:srgbClr val="E4DFDF"/>
                </a:solidFill>
                <a:latin typeface="Roboto Lt"/>
                <a:cs typeface="Roboto Lt"/>
              </a:rPr>
              <a:t>processing</a:t>
            </a:r>
            <a:r>
              <a:rPr sz="1700" spc="-35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700" dirty="0">
                <a:solidFill>
                  <a:srgbClr val="E4DFDF"/>
                </a:solidFill>
                <a:latin typeface="Roboto Lt"/>
                <a:cs typeface="Roboto Lt"/>
              </a:rPr>
              <a:t>for</a:t>
            </a:r>
            <a:r>
              <a:rPr sz="1700" spc="-25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700" spc="-65" dirty="0">
                <a:solidFill>
                  <a:srgbClr val="E4DFDF"/>
                </a:solidFill>
                <a:latin typeface="Roboto Lt"/>
                <a:cs typeface="Roboto Lt"/>
              </a:rPr>
              <a:t>high-</a:t>
            </a:r>
            <a:r>
              <a:rPr sz="1700" dirty="0">
                <a:solidFill>
                  <a:srgbClr val="E4DFDF"/>
                </a:solidFill>
                <a:latin typeface="Roboto Lt"/>
                <a:cs typeface="Roboto Lt"/>
              </a:rPr>
              <a:t>resolution</a:t>
            </a:r>
            <a:r>
              <a:rPr sz="1700" spc="-15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700" dirty="0">
                <a:solidFill>
                  <a:srgbClr val="E4DFDF"/>
                </a:solidFill>
                <a:latin typeface="Roboto Lt"/>
                <a:cs typeface="Roboto Lt"/>
              </a:rPr>
              <a:t>TIFF</a:t>
            </a:r>
            <a:r>
              <a:rPr sz="1700" spc="-35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700" dirty="0">
                <a:solidFill>
                  <a:srgbClr val="E4DFDF"/>
                </a:solidFill>
                <a:latin typeface="Roboto Lt"/>
                <a:cs typeface="Roboto Lt"/>
              </a:rPr>
              <a:t>files</a:t>
            </a:r>
            <a:r>
              <a:rPr sz="1700" spc="-15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700" spc="-25" dirty="0">
                <a:solidFill>
                  <a:srgbClr val="E4DFDF"/>
                </a:solidFill>
                <a:latin typeface="Roboto Lt"/>
                <a:cs typeface="Roboto Lt"/>
              </a:rPr>
              <a:t>to </a:t>
            </a:r>
            <a:r>
              <a:rPr sz="1700" dirty="0">
                <a:solidFill>
                  <a:srgbClr val="E4DFDF"/>
                </a:solidFill>
                <a:latin typeface="Roboto Lt"/>
                <a:cs typeface="Roboto Lt"/>
              </a:rPr>
              <a:t>preserve</a:t>
            </a:r>
            <a:r>
              <a:rPr sz="1700" spc="-6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700" dirty="0">
                <a:solidFill>
                  <a:srgbClr val="E4DFDF"/>
                </a:solidFill>
                <a:latin typeface="Roboto Lt"/>
                <a:cs typeface="Roboto Lt"/>
              </a:rPr>
              <a:t>forensic</a:t>
            </a:r>
            <a:r>
              <a:rPr sz="1700" spc="-55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700" spc="-10" dirty="0">
                <a:solidFill>
                  <a:srgbClr val="E4DFDF"/>
                </a:solidFill>
                <a:latin typeface="Roboto Lt"/>
                <a:cs typeface="Roboto Lt"/>
              </a:rPr>
              <a:t>details</a:t>
            </a:r>
            <a:endParaRPr sz="1700">
              <a:latin typeface="Roboto Lt"/>
              <a:cs typeface="Roboto L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412863" y="4707712"/>
            <a:ext cx="6461760" cy="1778635"/>
          </a:xfrm>
          <a:prstGeom prst="rect">
            <a:avLst/>
          </a:prstGeom>
        </p:spPr>
        <p:txBody>
          <a:bodyPr vert="horz" wrap="square" lIns="0" tIns="1619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75"/>
              </a:spcBef>
              <a:tabLst>
                <a:tab pos="6448425" algn="l"/>
              </a:tabLst>
            </a:pPr>
            <a:r>
              <a:rPr sz="1700" u="heavy" spc="-25" dirty="0">
                <a:solidFill>
                  <a:srgbClr val="E4DFDF"/>
                </a:solidFill>
                <a:uFill>
                  <a:solidFill>
                    <a:srgbClr val="F1F1F3"/>
                  </a:solidFill>
                </a:uFill>
                <a:latin typeface="Lucida Sans Unicode"/>
                <a:cs typeface="Lucida Sans Unicode"/>
              </a:rPr>
              <a:t>05</a:t>
            </a:r>
            <a:r>
              <a:rPr sz="1700" u="heavy" dirty="0">
                <a:solidFill>
                  <a:srgbClr val="E4DFDF"/>
                </a:solidFill>
                <a:uFill>
                  <a:solidFill>
                    <a:srgbClr val="F1F1F3"/>
                  </a:solidFill>
                </a:uFill>
                <a:latin typeface="Lucida Sans Unicode"/>
                <a:cs typeface="Lucida Sans Unicode"/>
              </a:rPr>
              <a:t>	</a:t>
            </a:r>
            <a:endParaRPr sz="17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1485"/>
              </a:spcBef>
            </a:pPr>
            <a:r>
              <a:rPr sz="2150" dirty="0">
                <a:solidFill>
                  <a:srgbClr val="E4DFDF"/>
                </a:solidFill>
                <a:latin typeface="Lucida Sans Unicode"/>
                <a:cs typeface="Lucida Sans Unicode"/>
              </a:rPr>
              <a:t>Quality</a:t>
            </a:r>
            <a:r>
              <a:rPr sz="2150" spc="-95" dirty="0">
                <a:solidFill>
                  <a:srgbClr val="E4DFDF"/>
                </a:solidFill>
                <a:latin typeface="Lucida Sans Unicode"/>
                <a:cs typeface="Lucida Sans Unicode"/>
              </a:rPr>
              <a:t> </a:t>
            </a:r>
            <a:r>
              <a:rPr sz="2150" spc="-10" dirty="0">
                <a:solidFill>
                  <a:srgbClr val="E4DFDF"/>
                </a:solidFill>
                <a:latin typeface="Lucida Sans Unicode"/>
                <a:cs typeface="Lucida Sans Unicode"/>
              </a:rPr>
              <a:t>Assurance</a:t>
            </a:r>
            <a:endParaRPr sz="2150">
              <a:latin typeface="Lucida Sans Unicode"/>
              <a:cs typeface="Lucida Sans Unicode"/>
            </a:endParaRPr>
          </a:p>
          <a:p>
            <a:pPr marL="12700" marR="673735">
              <a:lnSpc>
                <a:spcPct val="137200"/>
              </a:lnSpc>
              <a:spcBef>
                <a:spcPts val="925"/>
              </a:spcBef>
            </a:pPr>
            <a:r>
              <a:rPr sz="1700" dirty="0">
                <a:solidFill>
                  <a:srgbClr val="E4DFDF"/>
                </a:solidFill>
                <a:latin typeface="Roboto Lt"/>
                <a:cs typeface="Roboto Lt"/>
              </a:rPr>
              <a:t>Validated</a:t>
            </a:r>
            <a:r>
              <a:rPr sz="1700" spc="-3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700" dirty="0">
                <a:solidFill>
                  <a:srgbClr val="E4DFDF"/>
                </a:solidFill>
                <a:latin typeface="Roboto Lt"/>
                <a:cs typeface="Roboto Lt"/>
              </a:rPr>
              <a:t>preprocessing</a:t>
            </a:r>
            <a:r>
              <a:rPr sz="1700" spc="-65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700" dirty="0">
                <a:solidFill>
                  <a:srgbClr val="E4DFDF"/>
                </a:solidFill>
                <a:latin typeface="Roboto Lt"/>
                <a:cs typeface="Roboto Lt"/>
              </a:rPr>
              <a:t>consistency</a:t>
            </a:r>
            <a:r>
              <a:rPr sz="1700" spc="-45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700" dirty="0">
                <a:solidFill>
                  <a:srgbClr val="E4DFDF"/>
                </a:solidFill>
                <a:latin typeface="Roboto Lt"/>
                <a:cs typeface="Roboto Lt"/>
              </a:rPr>
              <a:t>across</a:t>
            </a:r>
            <a:r>
              <a:rPr sz="1700" spc="-35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700" dirty="0">
                <a:solidFill>
                  <a:srgbClr val="E4DFDF"/>
                </a:solidFill>
                <a:latin typeface="Roboto Lt"/>
                <a:cs typeface="Roboto Lt"/>
              </a:rPr>
              <a:t>entire</a:t>
            </a:r>
            <a:r>
              <a:rPr sz="1700" spc="-4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700" dirty="0">
                <a:solidFill>
                  <a:srgbClr val="E4DFDF"/>
                </a:solidFill>
                <a:latin typeface="Roboto Lt"/>
                <a:cs typeface="Roboto Lt"/>
              </a:rPr>
              <a:t>dataset</a:t>
            </a:r>
            <a:r>
              <a:rPr sz="1700" spc="-35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700" spc="-25" dirty="0">
                <a:solidFill>
                  <a:srgbClr val="E4DFDF"/>
                </a:solidFill>
                <a:latin typeface="Roboto Lt"/>
                <a:cs typeface="Roboto Lt"/>
              </a:rPr>
              <a:t>to </a:t>
            </a:r>
            <a:r>
              <a:rPr sz="1700" dirty="0">
                <a:solidFill>
                  <a:srgbClr val="E4DFDF"/>
                </a:solidFill>
                <a:latin typeface="Roboto Lt"/>
                <a:cs typeface="Roboto Lt"/>
              </a:rPr>
              <a:t>eliminate</a:t>
            </a:r>
            <a:r>
              <a:rPr sz="1700" spc="-65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700" dirty="0">
                <a:solidFill>
                  <a:srgbClr val="E4DFDF"/>
                </a:solidFill>
                <a:latin typeface="Roboto Lt"/>
                <a:cs typeface="Roboto Lt"/>
              </a:rPr>
              <a:t>pipeline</a:t>
            </a:r>
            <a:r>
              <a:rPr sz="1700" spc="-75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700" spc="-10" dirty="0">
                <a:solidFill>
                  <a:srgbClr val="E4DFDF"/>
                </a:solidFill>
                <a:latin typeface="Roboto Lt"/>
                <a:cs typeface="Roboto Lt"/>
              </a:rPr>
              <a:t>variability</a:t>
            </a:r>
            <a:endParaRPr sz="1700">
              <a:latin typeface="Roboto Lt"/>
              <a:cs typeface="Roboto L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64842" y="3748697"/>
            <a:ext cx="12897485" cy="4412615"/>
            <a:chOff x="1664842" y="3748697"/>
            <a:chExt cx="12897485" cy="441261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298177" y="3748697"/>
              <a:ext cx="3459353" cy="324078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664842" y="6995414"/>
              <a:ext cx="11557000" cy="728345"/>
            </a:xfrm>
            <a:custGeom>
              <a:avLst/>
              <a:gdLst/>
              <a:ahLst/>
              <a:cxnLst/>
              <a:rect l="l" t="t" r="r" b="b"/>
              <a:pathLst>
                <a:path w="11557000" h="728345">
                  <a:moveTo>
                    <a:pt x="11504422" y="0"/>
                  </a:moveTo>
                  <a:lnTo>
                    <a:pt x="52324" y="0"/>
                  </a:lnTo>
                  <a:lnTo>
                    <a:pt x="31932" y="4110"/>
                  </a:lnTo>
                  <a:lnTo>
                    <a:pt x="15303" y="15319"/>
                  </a:lnTo>
                  <a:lnTo>
                    <a:pt x="4103" y="31943"/>
                  </a:lnTo>
                  <a:lnTo>
                    <a:pt x="0" y="52298"/>
                  </a:lnTo>
                  <a:lnTo>
                    <a:pt x="0" y="675894"/>
                  </a:lnTo>
                  <a:lnTo>
                    <a:pt x="4103" y="696249"/>
                  </a:lnTo>
                  <a:lnTo>
                    <a:pt x="15303" y="712873"/>
                  </a:lnTo>
                  <a:lnTo>
                    <a:pt x="31932" y="724082"/>
                  </a:lnTo>
                  <a:lnTo>
                    <a:pt x="52324" y="728192"/>
                  </a:lnTo>
                  <a:lnTo>
                    <a:pt x="11504422" y="728192"/>
                  </a:lnTo>
                  <a:lnTo>
                    <a:pt x="11524759" y="724082"/>
                  </a:lnTo>
                  <a:lnTo>
                    <a:pt x="11541394" y="712873"/>
                  </a:lnTo>
                  <a:lnTo>
                    <a:pt x="11552624" y="696249"/>
                  </a:lnTo>
                  <a:lnTo>
                    <a:pt x="11556745" y="675894"/>
                  </a:lnTo>
                  <a:lnTo>
                    <a:pt x="11556745" y="52298"/>
                  </a:lnTo>
                  <a:lnTo>
                    <a:pt x="11552624" y="31943"/>
                  </a:lnTo>
                  <a:lnTo>
                    <a:pt x="11541394" y="15319"/>
                  </a:lnTo>
                  <a:lnTo>
                    <a:pt x="11524759" y="4110"/>
                  </a:lnTo>
                  <a:lnTo>
                    <a:pt x="11504422" y="0"/>
                  </a:lnTo>
                  <a:close/>
                </a:path>
              </a:pathLst>
            </a:custGeom>
            <a:solidFill>
              <a:srgbClr val="2424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33572" y="7232942"/>
              <a:ext cx="281546" cy="225234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390269" y="149732"/>
            <a:ext cx="841057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45" dirty="0"/>
              <a:t>Feature</a:t>
            </a:r>
            <a:r>
              <a:rPr sz="2800" spc="-114" dirty="0"/>
              <a:t> </a:t>
            </a:r>
            <a:r>
              <a:rPr sz="2800" spc="-25" dirty="0"/>
              <a:t>Extraction</a:t>
            </a:r>
            <a:r>
              <a:rPr sz="2800" spc="-110" dirty="0"/>
              <a:t> </a:t>
            </a:r>
            <a:r>
              <a:rPr sz="2800" spc="55" dirty="0"/>
              <a:t>&amp;</a:t>
            </a:r>
            <a:r>
              <a:rPr sz="2800" spc="-120" dirty="0"/>
              <a:t> </a:t>
            </a:r>
            <a:r>
              <a:rPr sz="2800" spc="60" dirty="0"/>
              <a:t>Classical</a:t>
            </a:r>
            <a:r>
              <a:rPr sz="2800" spc="-140" dirty="0"/>
              <a:t> </a:t>
            </a:r>
            <a:r>
              <a:rPr sz="2800" spc="80" dirty="0"/>
              <a:t>Machine</a:t>
            </a:r>
            <a:r>
              <a:rPr sz="2800" spc="-85" dirty="0"/>
              <a:t> </a:t>
            </a:r>
            <a:r>
              <a:rPr sz="2800" spc="-10" dirty="0"/>
              <a:t>Learning</a:t>
            </a:r>
            <a:endParaRPr sz="2800"/>
          </a:p>
        </p:txBody>
      </p:sp>
      <p:sp>
        <p:nvSpPr>
          <p:cNvPr id="7" name="object 7"/>
          <p:cNvSpPr txBox="1"/>
          <p:nvPr/>
        </p:nvSpPr>
        <p:spPr>
          <a:xfrm>
            <a:off x="1390269" y="1053211"/>
            <a:ext cx="4556125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dirty="0">
                <a:solidFill>
                  <a:srgbClr val="F1F1F3"/>
                </a:solidFill>
                <a:latin typeface="Lucida Sans Unicode"/>
                <a:cs typeface="Lucida Sans Unicode"/>
              </a:rPr>
              <a:t>Local</a:t>
            </a:r>
            <a:r>
              <a:rPr sz="2500" spc="90" dirty="0">
                <a:solidFill>
                  <a:srgbClr val="F1F1F3"/>
                </a:solidFill>
                <a:latin typeface="Lucida Sans Unicode"/>
                <a:cs typeface="Lucida Sans Unicode"/>
              </a:rPr>
              <a:t> </a:t>
            </a:r>
            <a:r>
              <a:rPr sz="2500" dirty="0">
                <a:solidFill>
                  <a:srgbClr val="F1F1F3"/>
                </a:solidFill>
                <a:latin typeface="Lucida Sans Unicode"/>
                <a:cs typeface="Lucida Sans Unicode"/>
              </a:rPr>
              <a:t>Binary</a:t>
            </a:r>
            <a:r>
              <a:rPr sz="2500" spc="70" dirty="0">
                <a:solidFill>
                  <a:srgbClr val="F1F1F3"/>
                </a:solidFill>
                <a:latin typeface="Lucida Sans Unicode"/>
                <a:cs typeface="Lucida Sans Unicode"/>
              </a:rPr>
              <a:t> </a:t>
            </a:r>
            <a:r>
              <a:rPr sz="2500" dirty="0">
                <a:solidFill>
                  <a:srgbClr val="F1F1F3"/>
                </a:solidFill>
                <a:latin typeface="Lucida Sans Unicode"/>
                <a:cs typeface="Lucida Sans Unicode"/>
              </a:rPr>
              <a:t>Pattern</a:t>
            </a:r>
            <a:r>
              <a:rPr sz="2500" spc="105" dirty="0">
                <a:solidFill>
                  <a:srgbClr val="F1F1F3"/>
                </a:solidFill>
                <a:latin typeface="Lucida Sans Unicode"/>
                <a:cs typeface="Lucida Sans Unicode"/>
              </a:rPr>
              <a:t> </a:t>
            </a:r>
            <a:r>
              <a:rPr sz="2500" spc="-10" dirty="0">
                <a:solidFill>
                  <a:srgbClr val="F1F1F3"/>
                </a:solidFill>
                <a:latin typeface="Lucida Sans Unicode"/>
                <a:cs typeface="Lucida Sans Unicode"/>
              </a:rPr>
              <a:t>Features</a:t>
            </a:r>
            <a:endParaRPr sz="250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19605" y="1842897"/>
            <a:ext cx="7732395" cy="16986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99800"/>
              </a:lnSpc>
              <a:spcBef>
                <a:spcPts val="100"/>
              </a:spcBef>
            </a:pPr>
            <a:r>
              <a:rPr sz="2200" dirty="0">
                <a:solidFill>
                  <a:srgbClr val="E4DFDF"/>
                </a:solidFill>
                <a:latin typeface="Roboto Lt"/>
                <a:cs typeface="Roboto Lt"/>
              </a:rPr>
              <a:t>We</a:t>
            </a:r>
            <a:r>
              <a:rPr sz="2200" spc="-6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2200" dirty="0">
                <a:solidFill>
                  <a:srgbClr val="E4DFDF"/>
                </a:solidFill>
                <a:latin typeface="Roboto Lt"/>
                <a:cs typeface="Roboto Lt"/>
              </a:rPr>
              <a:t>extracted</a:t>
            </a:r>
            <a:r>
              <a:rPr sz="2200" spc="-5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2200" dirty="0">
                <a:solidFill>
                  <a:srgbClr val="E4DFDF"/>
                </a:solidFill>
                <a:latin typeface="Roboto Lt"/>
                <a:cs typeface="Roboto Lt"/>
              </a:rPr>
              <a:t>Local</a:t>
            </a:r>
            <a:r>
              <a:rPr sz="2200" spc="-5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2200" dirty="0">
                <a:solidFill>
                  <a:srgbClr val="E4DFDF"/>
                </a:solidFill>
                <a:latin typeface="Roboto Lt"/>
                <a:cs typeface="Roboto Lt"/>
              </a:rPr>
              <a:t>Binary</a:t>
            </a:r>
            <a:r>
              <a:rPr sz="2200" spc="-5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2200" dirty="0">
                <a:solidFill>
                  <a:srgbClr val="E4DFDF"/>
                </a:solidFill>
                <a:latin typeface="Roboto Lt"/>
                <a:cs typeface="Roboto Lt"/>
              </a:rPr>
              <a:t>Pattern</a:t>
            </a:r>
            <a:r>
              <a:rPr sz="2200" spc="-65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2200" dirty="0">
                <a:solidFill>
                  <a:srgbClr val="E4DFDF"/>
                </a:solidFill>
                <a:latin typeface="Roboto Lt"/>
                <a:cs typeface="Roboto Lt"/>
              </a:rPr>
              <a:t>(LBP)</a:t>
            </a:r>
            <a:r>
              <a:rPr sz="2200" spc="-65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2200" spc="-25" dirty="0">
                <a:solidFill>
                  <a:srgbClr val="E4DFDF"/>
                </a:solidFill>
                <a:latin typeface="Roboto Lt"/>
                <a:cs typeface="Roboto Lt"/>
              </a:rPr>
              <a:t>features—</a:t>
            </a:r>
            <a:r>
              <a:rPr sz="2200" dirty="0">
                <a:solidFill>
                  <a:srgbClr val="E4DFDF"/>
                </a:solidFill>
                <a:latin typeface="Roboto Lt"/>
                <a:cs typeface="Roboto Lt"/>
              </a:rPr>
              <a:t>a</a:t>
            </a:r>
            <a:r>
              <a:rPr sz="2200" spc="-7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2200" spc="-10" dirty="0">
                <a:solidFill>
                  <a:srgbClr val="E4DFDF"/>
                </a:solidFill>
                <a:latin typeface="Roboto Lt"/>
                <a:cs typeface="Roboto Lt"/>
              </a:rPr>
              <a:t>powerful </a:t>
            </a:r>
            <a:r>
              <a:rPr sz="2200" dirty="0">
                <a:solidFill>
                  <a:srgbClr val="E4DFDF"/>
                </a:solidFill>
                <a:latin typeface="Roboto Lt"/>
                <a:cs typeface="Roboto Lt"/>
              </a:rPr>
              <a:t>texture</a:t>
            </a:r>
            <a:r>
              <a:rPr sz="2200" spc="-7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2200" dirty="0">
                <a:solidFill>
                  <a:srgbClr val="E4DFDF"/>
                </a:solidFill>
                <a:latin typeface="Roboto Lt"/>
                <a:cs typeface="Roboto Lt"/>
              </a:rPr>
              <a:t>descriptor</a:t>
            </a:r>
            <a:r>
              <a:rPr sz="2200" spc="-6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2200" dirty="0">
                <a:solidFill>
                  <a:srgbClr val="E4DFDF"/>
                </a:solidFill>
                <a:latin typeface="Roboto Lt"/>
                <a:cs typeface="Roboto Lt"/>
              </a:rPr>
              <a:t>that</a:t>
            </a:r>
            <a:r>
              <a:rPr sz="2200" spc="-7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2200" dirty="0">
                <a:solidFill>
                  <a:srgbClr val="E4DFDF"/>
                </a:solidFill>
                <a:latin typeface="Roboto Lt"/>
                <a:cs typeface="Roboto Lt"/>
              </a:rPr>
              <a:t>captures</a:t>
            </a:r>
            <a:r>
              <a:rPr sz="2200" spc="-7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2200" dirty="0">
                <a:solidFill>
                  <a:srgbClr val="E4DFDF"/>
                </a:solidFill>
                <a:latin typeface="Roboto Lt"/>
                <a:cs typeface="Roboto Lt"/>
              </a:rPr>
              <a:t>the</a:t>
            </a:r>
            <a:r>
              <a:rPr sz="2200" spc="-65" dirty="0">
                <a:solidFill>
                  <a:srgbClr val="E4DFDF"/>
                </a:solidFill>
                <a:latin typeface="Roboto Lt"/>
                <a:cs typeface="Roboto Lt"/>
              </a:rPr>
              <a:t> micro-</a:t>
            </a:r>
            <a:r>
              <a:rPr sz="2200" dirty="0">
                <a:solidFill>
                  <a:srgbClr val="E4DFDF"/>
                </a:solidFill>
                <a:latin typeface="Roboto Lt"/>
                <a:cs typeface="Roboto Lt"/>
              </a:rPr>
              <a:t>patterns</a:t>
            </a:r>
            <a:r>
              <a:rPr sz="2200" spc="-6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2200" dirty="0">
                <a:solidFill>
                  <a:srgbClr val="E4DFDF"/>
                </a:solidFill>
                <a:latin typeface="Roboto Lt"/>
                <a:cs typeface="Roboto Lt"/>
              </a:rPr>
              <a:t>and</a:t>
            </a:r>
            <a:r>
              <a:rPr sz="2200" spc="-65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2200" spc="-10" dirty="0">
                <a:solidFill>
                  <a:srgbClr val="E4DFDF"/>
                </a:solidFill>
                <a:latin typeface="Roboto Lt"/>
                <a:cs typeface="Roboto Lt"/>
              </a:rPr>
              <a:t>noise </a:t>
            </a:r>
            <a:r>
              <a:rPr sz="2200" dirty="0">
                <a:solidFill>
                  <a:srgbClr val="E4DFDF"/>
                </a:solidFill>
                <a:latin typeface="Roboto Lt"/>
                <a:cs typeface="Roboto Lt"/>
              </a:rPr>
              <a:t>characteristics</a:t>
            </a:r>
            <a:r>
              <a:rPr sz="2200" spc="-55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2200" dirty="0">
                <a:solidFill>
                  <a:srgbClr val="E4DFDF"/>
                </a:solidFill>
                <a:latin typeface="Roboto Lt"/>
                <a:cs typeface="Roboto Lt"/>
              </a:rPr>
              <a:t>unique</a:t>
            </a:r>
            <a:r>
              <a:rPr sz="2200" spc="-6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2200" dirty="0">
                <a:solidFill>
                  <a:srgbClr val="E4DFDF"/>
                </a:solidFill>
                <a:latin typeface="Roboto Lt"/>
                <a:cs typeface="Roboto Lt"/>
              </a:rPr>
              <a:t>to</a:t>
            </a:r>
            <a:r>
              <a:rPr sz="2200" spc="-65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2200" dirty="0">
                <a:solidFill>
                  <a:srgbClr val="E4DFDF"/>
                </a:solidFill>
                <a:latin typeface="Roboto Lt"/>
                <a:cs typeface="Roboto Lt"/>
              </a:rPr>
              <a:t>each</a:t>
            </a:r>
            <a:r>
              <a:rPr sz="2200" spc="-65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2200" dirty="0">
                <a:solidFill>
                  <a:srgbClr val="E4DFDF"/>
                </a:solidFill>
                <a:latin typeface="Roboto Lt"/>
                <a:cs typeface="Roboto Lt"/>
              </a:rPr>
              <a:t>scanner.</a:t>
            </a:r>
            <a:r>
              <a:rPr sz="2200" spc="-75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2200" dirty="0">
                <a:solidFill>
                  <a:srgbClr val="E4DFDF"/>
                </a:solidFill>
                <a:latin typeface="Roboto Lt"/>
                <a:cs typeface="Roboto Lt"/>
              </a:rPr>
              <a:t>LBP</a:t>
            </a:r>
            <a:r>
              <a:rPr sz="2200" spc="-8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2200" dirty="0">
                <a:solidFill>
                  <a:srgbClr val="E4DFDF"/>
                </a:solidFill>
                <a:latin typeface="Roboto Lt"/>
                <a:cs typeface="Roboto Lt"/>
              </a:rPr>
              <a:t>excels</a:t>
            </a:r>
            <a:r>
              <a:rPr sz="2200" spc="-55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2200" dirty="0">
                <a:solidFill>
                  <a:srgbClr val="E4DFDF"/>
                </a:solidFill>
                <a:latin typeface="Roboto Lt"/>
                <a:cs typeface="Roboto Lt"/>
              </a:rPr>
              <a:t>at</a:t>
            </a:r>
            <a:r>
              <a:rPr sz="2200" spc="-65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2200" spc="-10" dirty="0">
                <a:solidFill>
                  <a:srgbClr val="E4DFDF"/>
                </a:solidFill>
                <a:latin typeface="Roboto Lt"/>
                <a:cs typeface="Roboto Lt"/>
              </a:rPr>
              <a:t>detecting </a:t>
            </a:r>
            <a:r>
              <a:rPr sz="2200" dirty="0">
                <a:solidFill>
                  <a:srgbClr val="E4DFDF"/>
                </a:solidFill>
                <a:latin typeface="Roboto Lt"/>
                <a:cs typeface="Roboto Lt"/>
              </a:rPr>
              <a:t>subtle</a:t>
            </a:r>
            <a:r>
              <a:rPr sz="2200" spc="-65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2200" dirty="0">
                <a:solidFill>
                  <a:srgbClr val="E4DFDF"/>
                </a:solidFill>
                <a:latin typeface="Roboto Lt"/>
                <a:cs typeface="Roboto Lt"/>
              </a:rPr>
              <a:t>variations</a:t>
            </a:r>
            <a:r>
              <a:rPr sz="2200" spc="-35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2200" dirty="0">
                <a:solidFill>
                  <a:srgbClr val="E4DFDF"/>
                </a:solidFill>
                <a:latin typeface="Roboto Lt"/>
                <a:cs typeface="Roboto Lt"/>
              </a:rPr>
              <a:t>in</a:t>
            </a:r>
            <a:r>
              <a:rPr sz="2200" spc="-65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2200" dirty="0">
                <a:solidFill>
                  <a:srgbClr val="E4DFDF"/>
                </a:solidFill>
                <a:latin typeface="Roboto Lt"/>
                <a:cs typeface="Roboto Lt"/>
              </a:rPr>
              <a:t>pixel</a:t>
            </a:r>
            <a:r>
              <a:rPr sz="2200" spc="-4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2200" spc="-10" dirty="0">
                <a:solidFill>
                  <a:srgbClr val="E4DFDF"/>
                </a:solidFill>
                <a:latin typeface="Roboto Lt"/>
                <a:cs typeface="Roboto Lt"/>
              </a:rPr>
              <a:t>neighborhoods</a:t>
            </a:r>
            <a:r>
              <a:rPr sz="2200" spc="-6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2200" dirty="0">
                <a:solidFill>
                  <a:srgbClr val="E4DFDF"/>
                </a:solidFill>
                <a:latin typeface="Roboto Lt"/>
                <a:cs typeface="Roboto Lt"/>
              </a:rPr>
              <a:t>that</a:t>
            </a:r>
            <a:r>
              <a:rPr sz="2200" spc="-65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2200" spc="-10" dirty="0">
                <a:solidFill>
                  <a:srgbClr val="E4DFDF"/>
                </a:solidFill>
                <a:latin typeface="Roboto Lt"/>
                <a:cs typeface="Roboto Lt"/>
              </a:rPr>
              <a:t>distinguish </a:t>
            </a:r>
            <a:r>
              <a:rPr sz="2200" dirty="0">
                <a:solidFill>
                  <a:srgbClr val="E4DFDF"/>
                </a:solidFill>
                <a:latin typeface="Roboto Lt"/>
                <a:cs typeface="Roboto Lt"/>
              </a:rPr>
              <a:t>scanner</a:t>
            </a:r>
            <a:r>
              <a:rPr sz="2200" spc="-105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2200" spc="-10" dirty="0">
                <a:solidFill>
                  <a:srgbClr val="E4DFDF"/>
                </a:solidFill>
                <a:latin typeface="Roboto Lt"/>
                <a:cs typeface="Roboto Lt"/>
              </a:rPr>
              <a:t>signatures.</a:t>
            </a:r>
            <a:endParaRPr sz="2200">
              <a:latin typeface="Roboto Lt"/>
              <a:cs typeface="Roboto L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19605" y="4392548"/>
            <a:ext cx="3117215" cy="2291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1F1F3"/>
                </a:solidFill>
                <a:latin typeface="Lucida Sans Unicode"/>
                <a:cs typeface="Lucida Sans Unicode"/>
              </a:rPr>
              <a:t>Classical</a:t>
            </a:r>
            <a:r>
              <a:rPr sz="1800" spc="55" dirty="0">
                <a:solidFill>
                  <a:srgbClr val="F1F1F3"/>
                </a:solidFill>
                <a:latin typeface="Lucida Sans Unicode"/>
                <a:cs typeface="Lucida Sans Unicode"/>
              </a:rPr>
              <a:t> </a:t>
            </a:r>
            <a:r>
              <a:rPr sz="1800" spc="-135" dirty="0">
                <a:solidFill>
                  <a:srgbClr val="F1F1F3"/>
                </a:solidFill>
                <a:latin typeface="Lucida Sans Unicode"/>
                <a:cs typeface="Lucida Sans Unicode"/>
              </a:rPr>
              <a:t>ML</a:t>
            </a:r>
            <a:r>
              <a:rPr sz="1800" spc="55" dirty="0">
                <a:solidFill>
                  <a:srgbClr val="F1F1F3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F1F1F3"/>
                </a:solidFill>
                <a:latin typeface="Lucida Sans Unicode"/>
                <a:cs typeface="Lucida Sans Unicode"/>
              </a:rPr>
              <a:t>Models</a:t>
            </a:r>
            <a:r>
              <a:rPr sz="1800" spc="60" dirty="0">
                <a:solidFill>
                  <a:srgbClr val="F1F1F3"/>
                </a:solidFill>
                <a:latin typeface="Lucida Sans Unicode"/>
                <a:cs typeface="Lucida Sans Unicode"/>
              </a:rPr>
              <a:t> </a:t>
            </a:r>
            <a:r>
              <a:rPr sz="1800" spc="-10" dirty="0">
                <a:solidFill>
                  <a:srgbClr val="F1F1F3"/>
                </a:solidFill>
                <a:latin typeface="Lucida Sans Unicode"/>
                <a:cs typeface="Lucida Sans Unicode"/>
              </a:rPr>
              <a:t>Tested</a:t>
            </a:r>
            <a:endParaRPr sz="18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580"/>
              </a:spcBef>
            </a:pPr>
            <a:endParaRPr sz="1800">
              <a:latin typeface="Lucida Sans Unicode"/>
              <a:cs typeface="Lucida Sans Unicode"/>
            </a:endParaRPr>
          </a:p>
          <a:p>
            <a:pPr marL="354965" indent="-342265">
              <a:lnSpc>
                <a:spcPct val="100000"/>
              </a:lnSpc>
              <a:buChar char="•"/>
              <a:tabLst>
                <a:tab pos="354965" algn="l"/>
              </a:tabLst>
            </a:pPr>
            <a:r>
              <a:rPr sz="1600" dirty="0">
                <a:solidFill>
                  <a:srgbClr val="E4DFDF"/>
                </a:solidFill>
                <a:latin typeface="Roboto Lt"/>
                <a:cs typeface="Roboto Lt"/>
              </a:rPr>
              <a:t>Support</a:t>
            </a:r>
            <a:r>
              <a:rPr sz="1600" spc="-65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600" dirty="0">
                <a:solidFill>
                  <a:srgbClr val="E4DFDF"/>
                </a:solidFill>
                <a:latin typeface="Roboto Lt"/>
                <a:cs typeface="Roboto Lt"/>
              </a:rPr>
              <a:t>Vector</a:t>
            </a:r>
            <a:r>
              <a:rPr sz="1600" spc="-7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600" dirty="0">
                <a:solidFill>
                  <a:srgbClr val="E4DFDF"/>
                </a:solidFill>
                <a:latin typeface="Roboto Lt"/>
                <a:cs typeface="Roboto Lt"/>
              </a:rPr>
              <a:t>Machine</a:t>
            </a:r>
            <a:r>
              <a:rPr sz="1600" spc="-5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600" spc="-10" dirty="0">
                <a:solidFill>
                  <a:srgbClr val="E4DFDF"/>
                </a:solidFill>
                <a:latin typeface="Roboto Lt"/>
                <a:cs typeface="Roboto Lt"/>
              </a:rPr>
              <a:t>(SVM)</a:t>
            </a:r>
            <a:endParaRPr sz="1600">
              <a:latin typeface="Roboto Lt"/>
              <a:cs typeface="Roboto Lt"/>
            </a:endParaRPr>
          </a:p>
          <a:p>
            <a:pPr marL="354965" indent="-342265">
              <a:lnSpc>
                <a:spcPct val="100000"/>
              </a:lnSpc>
              <a:spcBef>
                <a:spcPts val="1800"/>
              </a:spcBef>
              <a:buChar char="•"/>
              <a:tabLst>
                <a:tab pos="354965" algn="l"/>
              </a:tabLst>
            </a:pPr>
            <a:r>
              <a:rPr sz="1600" dirty="0">
                <a:solidFill>
                  <a:srgbClr val="E4DFDF"/>
                </a:solidFill>
                <a:latin typeface="Roboto Lt"/>
                <a:cs typeface="Roboto Lt"/>
              </a:rPr>
              <a:t>Random</a:t>
            </a:r>
            <a:r>
              <a:rPr sz="1600" spc="-4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600" dirty="0">
                <a:solidFill>
                  <a:srgbClr val="E4DFDF"/>
                </a:solidFill>
                <a:latin typeface="Roboto Lt"/>
                <a:cs typeface="Roboto Lt"/>
              </a:rPr>
              <a:t>Forest</a:t>
            </a:r>
            <a:r>
              <a:rPr sz="1600" spc="-5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600" spc="-10" dirty="0">
                <a:solidFill>
                  <a:srgbClr val="E4DFDF"/>
                </a:solidFill>
                <a:latin typeface="Roboto Lt"/>
                <a:cs typeface="Roboto Lt"/>
              </a:rPr>
              <a:t>Classifier</a:t>
            </a:r>
            <a:endParaRPr sz="1600">
              <a:latin typeface="Roboto Lt"/>
              <a:cs typeface="Roboto Lt"/>
            </a:endParaRPr>
          </a:p>
          <a:p>
            <a:pPr marL="354965" indent="-342265">
              <a:lnSpc>
                <a:spcPct val="100000"/>
              </a:lnSpc>
              <a:spcBef>
                <a:spcPts val="1385"/>
              </a:spcBef>
              <a:buChar char="•"/>
              <a:tabLst>
                <a:tab pos="354965" algn="l"/>
              </a:tabLst>
            </a:pPr>
            <a:r>
              <a:rPr sz="1600" spc="-114" dirty="0">
                <a:solidFill>
                  <a:srgbClr val="E4DFDF"/>
                </a:solidFill>
                <a:latin typeface="Roboto Lt"/>
                <a:cs typeface="Roboto Lt"/>
              </a:rPr>
              <a:t>K-</a:t>
            </a:r>
            <a:r>
              <a:rPr sz="1600" dirty="0">
                <a:solidFill>
                  <a:srgbClr val="E4DFDF"/>
                </a:solidFill>
                <a:latin typeface="Roboto Lt"/>
                <a:cs typeface="Roboto Lt"/>
              </a:rPr>
              <a:t>Nearest</a:t>
            </a:r>
            <a:r>
              <a:rPr sz="1600" spc="-4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600" dirty="0">
                <a:solidFill>
                  <a:srgbClr val="E4DFDF"/>
                </a:solidFill>
                <a:latin typeface="Roboto Lt"/>
                <a:cs typeface="Roboto Lt"/>
              </a:rPr>
              <a:t>Neighbors</a:t>
            </a:r>
            <a:r>
              <a:rPr sz="1600" spc="-6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600" spc="-20" dirty="0">
                <a:solidFill>
                  <a:srgbClr val="E4DFDF"/>
                </a:solidFill>
                <a:latin typeface="Roboto Lt"/>
                <a:cs typeface="Roboto Lt"/>
              </a:rPr>
              <a:t>(KNN)</a:t>
            </a:r>
            <a:endParaRPr sz="1600">
              <a:latin typeface="Roboto Lt"/>
              <a:cs typeface="Roboto Lt"/>
            </a:endParaRPr>
          </a:p>
          <a:p>
            <a:pPr marL="354965" indent="-342265">
              <a:lnSpc>
                <a:spcPct val="100000"/>
              </a:lnSpc>
              <a:spcBef>
                <a:spcPts val="1475"/>
              </a:spcBef>
              <a:buChar char="•"/>
              <a:tabLst>
                <a:tab pos="354965" algn="l"/>
              </a:tabLst>
            </a:pPr>
            <a:r>
              <a:rPr sz="1600" dirty="0">
                <a:solidFill>
                  <a:srgbClr val="E4DFDF"/>
                </a:solidFill>
                <a:latin typeface="Roboto Lt"/>
                <a:cs typeface="Roboto Lt"/>
              </a:rPr>
              <a:t>Logistic</a:t>
            </a:r>
            <a:r>
              <a:rPr sz="1600" spc="-45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600" spc="-10" dirty="0">
                <a:solidFill>
                  <a:srgbClr val="E4DFDF"/>
                </a:solidFill>
                <a:latin typeface="Roboto Lt"/>
                <a:cs typeface="Roboto Lt"/>
              </a:rPr>
              <a:t>Regression</a:t>
            </a:r>
            <a:endParaRPr sz="1600">
              <a:latin typeface="Roboto Lt"/>
              <a:cs typeface="Roboto L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681207" y="1720976"/>
            <a:ext cx="56197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25" dirty="0">
                <a:solidFill>
                  <a:srgbClr val="E4DFDF"/>
                </a:solidFill>
                <a:latin typeface="Lucida Sans Unicode"/>
                <a:cs typeface="Lucida Sans Unicode"/>
              </a:rPr>
              <a:t>92%</a:t>
            </a:r>
            <a:endParaRPr sz="2200">
              <a:latin typeface="Lucida Sans Unicode"/>
              <a:cs typeface="Lucida Sans Unicode"/>
            </a:endParaRPr>
          </a:p>
        </p:txBody>
      </p: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724008" y="708659"/>
            <a:ext cx="2397379" cy="2397379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9294114" y="3181211"/>
            <a:ext cx="3358515" cy="51689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29"/>
              </a:spcBef>
            </a:pPr>
            <a:r>
              <a:rPr sz="1400" dirty="0">
                <a:solidFill>
                  <a:srgbClr val="E4DFDF"/>
                </a:solidFill>
                <a:latin typeface="Lucida Sans Unicode"/>
                <a:cs typeface="Lucida Sans Unicode"/>
              </a:rPr>
              <a:t>SVM</a:t>
            </a:r>
            <a:r>
              <a:rPr sz="1400" spc="-45" dirty="0">
                <a:solidFill>
                  <a:srgbClr val="E4DFDF"/>
                </a:solidFill>
                <a:latin typeface="Lucida Sans Unicode"/>
                <a:cs typeface="Lucida Sans Unicode"/>
              </a:rPr>
              <a:t> </a:t>
            </a:r>
            <a:r>
              <a:rPr sz="1400" spc="50" dirty="0">
                <a:solidFill>
                  <a:srgbClr val="E4DFDF"/>
                </a:solidFill>
                <a:latin typeface="Lucida Sans Unicode"/>
                <a:cs typeface="Lucida Sans Unicode"/>
              </a:rPr>
              <a:t>Accuracy</a:t>
            </a:r>
            <a:endParaRPr sz="1400">
              <a:latin typeface="Lucida Sans Unicode"/>
              <a:cs typeface="Lucida Sans Unicode"/>
            </a:endParaRPr>
          </a:p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sz="1600" dirty="0">
                <a:solidFill>
                  <a:srgbClr val="E4DFDF"/>
                </a:solidFill>
                <a:latin typeface="Roboto Lt"/>
                <a:cs typeface="Roboto Lt"/>
              </a:rPr>
              <a:t>Best</a:t>
            </a:r>
            <a:r>
              <a:rPr sz="1600" spc="-2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600" spc="-10" dirty="0">
                <a:solidFill>
                  <a:srgbClr val="E4DFDF"/>
                </a:solidFill>
                <a:latin typeface="Roboto Lt"/>
                <a:cs typeface="Roboto Lt"/>
              </a:rPr>
              <a:t>performance</a:t>
            </a:r>
            <a:r>
              <a:rPr sz="1600" spc="-25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600" dirty="0">
                <a:solidFill>
                  <a:srgbClr val="E4DFDF"/>
                </a:solidFill>
                <a:latin typeface="Roboto Lt"/>
                <a:cs typeface="Roboto Lt"/>
              </a:rPr>
              <a:t>on</a:t>
            </a:r>
            <a:r>
              <a:rPr sz="1600" spc="-2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600" dirty="0">
                <a:solidFill>
                  <a:srgbClr val="E4DFDF"/>
                </a:solidFill>
                <a:latin typeface="Roboto Lt"/>
                <a:cs typeface="Roboto Lt"/>
              </a:rPr>
              <a:t>300</a:t>
            </a:r>
            <a:r>
              <a:rPr sz="1600" spc="-2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600" dirty="0">
                <a:solidFill>
                  <a:srgbClr val="E4DFDF"/>
                </a:solidFill>
                <a:latin typeface="Roboto Lt"/>
                <a:cs typeface="Roboto Lt"/>
              </a:rPr>
              <a:t>DPI</a:t>
            </a:r>
            <a:r>
              <a:rPr sz="1600" spc="-3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600" spc="-10" dirty="0">
                <a:solidFill>
                  <a:srgbClr val="E4DFDF"/>
                </a:solidFill>
                <a:latin typeface="Roboto Lt"/>
                <a:cs typeface="Roboto Lt"/>
              </a:rPr>
              <a:t>dataset</a:t>
            </a:r>
            <a:endParaRPr sz="1600">
              <a:latin typeface="Roboto Lt"/>
              <a:cs typeface="Roboto L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055745" y="7139737"/>
            <a:ext cx="7508240" cy="383540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 marR="5080">
              <a:lnSpc>
                <a:spcPts val="1380"/>
              </a:lnSpc>
              <a:spcBef>
                <a:spcPts val="195"/>
              </a:spcBef>
            </a:pPr>
            <a:r>
              <a:rPr sz="1200" dirty="0">
                <a:solidFill>
                  <a:srgbClr val="FFFFFF"/>
                </a:solidFill>
                <a:latin typeface="Roboto Lt"/>
                <a:cs typeface="Roboto Lt"/>
              </a:rPr>
              <a:t>Key</a:t>
            </a:r>
            <a:r>
              <a:rPr sz="1200" spc="-65" dirty="0">
                <a:solidFill>
                  <a:srgbClr val="FFFFFF"/>
                </a:solidFill>
                <a:latin typeface="Roboto Lt"/>
                <a:cs typeface="Roboto Lt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Roboto Lt"/>
                <a:cs typeface="Roboto Lt"/>
              </a:rPr>
              <a:t>Finding:</a:t>
            </a:r>
            <a:r>
              <a:rPr sz="1200" spc="-50" dirty="0">
                <a:solidFill>
                  <a:srgbClr val="FFFFFF"/>
                </a:solidFill>
                <a:latin typeface="Roboto Lt"/>
                <a:cs typeface="Roboto Lt"/>
              </a:rPr>
              <a:t> </a:t>
            </a:r>
            <a:r>
              <a:rPr sz="1200" dirty="0">
                <a:solidFill>
                  <a:srgbClr val="FFFFFF"/>
                </a:solidFill>
                <a:latin typeface="Roboto Lt"/>
                <a:cs typeface="Roboto Lt"/>
              </a:rPr>
              <a:t>Performance</a:t>
            </a:r>
            <a:r>
              <a:rPr sz="1200" spc="-45" dirty="0">
                <a:solidFill>
                  <a:srgbClr val="FFFFFF"/>
                </a:solidFill>
                <a:latin typeface="Roboto Lt"/>
                <a:cs typeface="Roboto Lt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Roboto Lt"/>
                <a:cs typeface="Roboto Lt"/>
              </a:rPr>
              <a:t>degraded</a:t>
            </a:r>
            <a:r>
              <a:rPr sz="1200" spc="-60" dirty="0">
                <a:solidFill>
                  <a:srgbClr val="FFFFFF"/>
                </a:solidFill>
                <a:latin typeface="Roboto Lt"/>
                <a:cs typeface="Roboto Lt"/>
              </a:rPr>
              <a:t> </a:t>
            </a:r>
            <a:r>
              <a:rPr sz="1200" dirty="0">
                <a:solidFill>
                  <a:srgbClr val="FFFFFF"/>
                </a:solidFill>
                <a:latin typeface="Roboto Lt"/>
                <a:cs typeface="Roboto Lt"/>
              </a:rPr>
              <a:t>when</a:t>
            </a:r>
            <a:r>
              <a:rPr sz="1200" spc="-20" dirty="0">
                <a:solidFill>
                  <a:srgbClr val="FFFFFF"/>
                </a:solidFill>
                <a:latin typeface="Roboto Lt"/>
                <a:cs typeface="Roboto Lt"/>
              </a:rPr>
              <a:t> </a:t>
            </a:r>
            <a:r>
              <a:rPr sz="1200" dirty="0">
                <a:solidFill>
                  <a:srgbClr val="FFFFFF"/>
                </a:solidFill>
                <a:latin typeface="Roboto Lt"/>
                <a:cs typeface="Roboto Lt"/>
              </a:rPr>
              <a:t>mixing</a:t>
            </a:r>
            <a:r>
              <a:rPr sz="1200" spc="-10" dirty="0">
                <a:solidFill>
                  <a:srgbClr val="FFFFFF"/>
                </a:solidFill>
                <a:latin typeface="Roboto Lt"/>
                <a:cs typeface="Roboto Lt"/>
              </a:rPr>
              <a:t> </a:t>
            </a:r>
            <a:r>
              <a:rPr sz="1200" dirty="0">
                <a:solidFill>
                  <a:srgbClr val="FFFFFF"/>
                </a:solidFill>
                <a:latin typeface="Roboto Lt"/>
                <a:cs typeface="Roboto Lt"/>
              </a:rPr>
              <a:t>150</a:t>
            </a:r>
            <a:r>
              <a:rPr sz="1200" spc="-15" dirty="0">
                <a:solidFill>
                  <a:srgbClr val="FFFFFF"/>
                </a:solidFill>
                <a:latin typeface="Roboto Lt"/>
                <a:cs typeface="Roboto Lt"/>
              </a:rPr>
              <a:t> </a:t>
            </a:r>
            <a:r>
              <a:rPr sz="1200" dirty="0">
                <a:solidFill>
                  <a:srgbClr val="FFFFFF"/>
                </a:solidFill>
                <a:latin typeface="Roboto Lt"/>
                <a:cs typeface="Roboto Lt"/>
              </a:rPr>
              <a:t>and</a:t>
            </a:r>
            <a:r>
              <a:rPr sz="1200" spc="-40" dirty="0">
                <a:solidFill>
                  <a:srgbClr val="FFFFFF"/>
                </a:solidFill>
                <a:latin typeface="Roboto Lt"/>
                <a:cs typeface="Roboto Lt"/>
              </a:rPr>
              <a:t> </a:t>
            </a:r>
            <a:r>
              <a:rPr sz="1200" dirty="0">
                <a:solidFill>
                  <a:srgbClr val="FFFFFF"/>
                </a:solidFill>
                <a:latin typeface="Roboto Lt"/>
                <a:cs typeface="Roboto Lt"/>
              </a:rPr>
              <a:t>300</a:t>
            </a:r>
            <a:r>
              <a:rPr sz="1200" spc="-20" dirty="0">
                <a:solidFill>
                  <a:srgbClr val="FFFFFF"/>
                </a:solidFill>
                <a:latin typeface="Roboto Lt"/>
                <a:cs typeface="Roboto Lt"/>
              </a:rPr>
              <a:t> </a:t>
            </a:r>
            <a:r>
              <a:rPr sz="1200" dirty="0">
                <a:solidFill>
                  <a:srgbClr val="FFFFFF"/>
                </a:solidFill>
                <a:latin typeface="Roboto Lt"/>
                <a:cs typeface="Roboto Lt"/>
              </a:rPr>
              <a:t>DPI</a:t>
            </a:r>
            <a:r>
              <a:rPr sz="1200" spc="-30" dirty="0">
                <a:solidFill>
                  <a:srgbClr val="FFFFFF"/>
                </a:solidFill>
                <a:latin typeface="Roboto Lt"/>
                <a:cs typeface="Roboto Lt"/>
              </a:rPr>
              <a:t> </a:t>
            </a:r>
            <a:r>
              <a:rPr sz="1200" dirty="0">
                <a:solidFill>
                  <a:srgbClr val="FFFFFF"/>
                </a:solidFill>
                <a:latin typeface="Roboto Lt"/>
                <a:cs typeface="Roboto Lt"/>
              </a:rPr>
              <a:t>images,</a:t>
            </a:r>
            <a:r>
              <a:rPr sz="1200" spc="-35" dirty="0">
                <a:solidFill>
                  <a:srgbClr val="FFFFFF"/>
                </a:solidFill>
                <a:latin typeface="Roboto Lt"/>
                <a:cs typeface="Roboto Lt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Roboto Lt"/>
                <a:cs typeface="Roboto Lt"/>
              </a:rPr>
              <a:t>revealing</a:t>
            </a:r>
            <a:r>
              <a:rPr sz="1200" spc="-30" dirty="0">
                <a:solidFill>
                  <a:srgbClr val="FFFFFF"/>
                </a:solidFill>
                <a:latin typeface="Roboto Lt"/>
                <a:cs typeface="Roboto Lt"/>
              </a:rPr>
              <a:t> </a:t>
            </a:r>
            <a:r>
              <a:rPr sz="1200" dirty="0">
                <a:solidFill>
                  <a:srgbClr val="FFFFFF"/>
                </a:solidFill>
                <a:latin typeface="Roboto Lt"/>
                <a:cs typeface="Roboto Lt"/>
              </a:rPr>
              <a:t>that</a:t>
            </a:r>
            <a:r>
              <a:rPr sz="1200" spc="-30" dirty="0">
                <a:solidFill>
                  <a:srgbClr val="FFFFFF"/>
                </a:solidFill>
                <a:latin typeface="Roboto Lt"/>
                <a:cs typeface="Roboto Lt"/>
              </a:rPr>
              <a:t> </a:t>
            </a:r>
            <a:r>
              <a:rPr sz="1200" dirty="0">
                <a:solidFill>
                  <a:srgbClr val="FFFFFF"/>
                </a:solidFill>
                <a:latin typeface="Roboto Lt"/>
                <a:cs typeface="Roboto Lt"/>
              </a:rPr>
              <a:t>classical</a:t>
            </a:r>
            <a:r>
              <a:rPr sz="1200" spc="-15" dirty="0">
                <a:solidFill>
                  <a:srgbClr val="FFFFFF"/>
                </a:solidFill>
                <a:latin typeface="Roboto Lt"/>
                <a:cs typeface="Roboto Lt"/>
              </a:rPr>
              <a:t> </a:t>
            </a:r>
            <a:r>
              <a:rPr sz="1200" dirty="0">
                <a:solidFill>
                  <a:srgbClr val="FFFFFF"/>
                </a:solidFill>
                <a:latin typeface="Roboto Lt"/>
                <a:cs typeface="Roboto Lt"/>
              </a:rPr>
              <a:t>ML</a:t>
            </a:r>
            <a:r>
              <a:rPr sz="1200" spc="-20" dirty="0">
                <a:solidFill>
                  <a:srgbClr val="FFFFFF"/>
                </a:solidFill>
                <a:latin typeface="Roboto Lt"/>
                <a:cs typeface="Roboto Lt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Roboto Lt"/>
                <a:cs typeface="Roboto Lt"/>
              </a:rPr>
              <a:t>models</a:t>
            </a:r>
            <a:r>
              <a:rPr sz="1200" spc="500" dirty="0">
                <a:solidFill>
                  <a:srgbClr val="FFFFFF"/>
                </a:solidFill>
                <a:latin typeface="Roboto Lt"/>
                <a:cs typeface="Roboto Lt"/>
              </a:rPr>
              <a:t>  </a:t>
            </a:r>
            <a:r>
              <a:rPr sz="1200" dirty="0">
                <a:solidFill>
                  <a:srgbClr val="FFFFFF"/>
                </a:solidFill>
                <a:latin typeface="Roboto Lt"/>
                <a:cs typeface="Roboto Lt"/>
              </a:rPr>
              <a:t>are</a:t>
            </a:r>
            <a:r>
              <a:rPr sz="1200" spc="-55" dirty="0">
                <a:solidFill>
                  <a:srgbClr val="FFFFFF"/>
                </a:solidFill>
                <a:latin typeface="Roboto Lt"/>
                <a:cs typeface="Roboto Lt"/>
              </a:rPr>
              <a:t> </a:t>
            </a:r>
            <a:r>
              <a:rPr sz="1200" dirty="0">
                <a:solidFill>
                  <a:srgbClr val="FFFFFF"/>
                </a:solidFill>
                <a:latin typeface="Roboto Lt"/>
                <a:cs typeface="Roboto Lt"/>
              </a:rPr>
              <a:t>highly</a:t>
            </a:r>
            <a:r>
              <a:rPr sz="1200" spc="-15" dirty="0">
                <a:solidFill>
                  <a:srgbClr val="FFFFFF"/>
                </a:solidFill>
                <a:latin typeface="Roboto Lt"/>
                <a:cs typeface="Roboto Lt"/>
              </a:rPr>
              <a:t> </a:t>
            </a:r>
            <a:r>
              <a:rPr sz="1200" dirty="0">
                <a:solidFill>
                  <a:srgbClr val="FFFFFF"/>
                </a:solidFill>
                <a:latin typeface="Roboto Lt"/>
                <a:cs typeface="Roboto Lt"/>
              </a:rPr>
              <a:t>sensitive</a:t>
            </a:r>
            <a:r>
              <a:rPr sz="1200" spc="-15" dirty="0">
                <a:solidFill>
                  <a:srgbClr val="FFFFFF"/>
                </a:solidFill>
                <a:latin typeface="Roboto Lt"/>
                <a:cs typeface="Roboto Lt"/>
              </a:rPr>
              <a:t> </a:t>
            </a:r>
            <a:r>
              <a:rPr sz="1200" dirty="0">
                <a:solidFill>
                  <a:srgbClr val="FFFFFF"/>
                </a:solidFill>
                <a:latin typeface="Roboto Lt"/>
                <a:cs typeface="Roboto Lt"/>
              </a:rPr>
              <a:t>to</a:t>
            </a:r>
            <a:r>
              <a:rPr sz="1200" spc="-30" dirty="0">
                <a:solidFill>
                  <a:srgbClr val="FFFFFF"/>
                </a:solidFill>
                <a:latin typeface="Roboto Lt"/>
                <a:cs typeface="Roboto Lt"/>
              </a:rPr>
              <a:t> </a:t>
            </a:r>
            <a:r>
              <a:rPr sz="1200" dirty="0">
                <a:solidFill>
                  <a:srgbClr val="FFFFFF"/>
                </a:solidFill>
                <a:latin typeface="Roboto Lt"/>
                <a:cs typeface="Roboto Lt"/>
              </a:rPr>
              <a:t>resolution</a:t>
            </a:r>
            <a:r>
              <a:rPr sz="1200" spc="-15" dirty="0">
                <a:solidFill>
                  <a:srgbClr val="FFFFFF"/>
                </a:solidFill>
                <a:latin typeface="Roboto Lt"/>
                <a:cs typeface="Roboto Lt"/>
              </a:rPr>
              <a:t> </a:t>
            </a:r>
            <a:r>
              <a:rPr sz="1200" dirty="0">
                <a:solidFill>
                  <a:srgbClr val="FFFFFF"/>
                </a:solidFill>
                <a:latin typeface="Roboto Lt"/>
                <a:cs typeface="Roboto Lt"/>
              </a:rPr>
              <a:t>changes.</a:t>
            </a:r>
            <a:r>
              <a:rPr sz="1200" spc="-45" dirty="0">
                <a:solidFill>
                  <a:srgbClr val="FFFFFF"/>
                </a:solidFill>
                <a:latin typeface="Roboto Lt"/>
                <a:cs typeface="Roboto Lt"/>
              </a:rPr>
              <a:t> </a:t>
            </a:r>
            <a:r>
              <a:rPr sz="1200" dirty="0">
                <a:solidFill>
                  <a:srgbClr val="FFFFFF"/>
                </a:solidFill>
                <a:latin typeface="Roboto Lt"/>
                <a:cs typeface="Roboto Lt"/>
              </a:rPr>
              <a:t>This</a:t>
            </a:r>
            <a:r>
              <a:rPr sz="1200" spc="-25" dirty="0">
                <a:solidFill>
                  <a:srgbClr val="FFFFFF"/>
                </a:solidFill>
                <a:latin typeface="Roboto Lt"/>
                <a:cs typeface="Roboto Lt"/>
              </a:rPr>
              <a:t> </a:t>
            </a:r>
            <a:r>
              <a:rPr sz="1200" dirty="0">
                <a:solidFill>
                  <a:srgbClr val="FFFFFF"/>
                </a:solidFill>
                <a:latin typeface="Roboto Lt"/>
                <a:cs typeface="Roboto Lt"/>
              </a:rPr>
              <a:t>limitation</a:t>
            </a:r>
            <a:r>
              <a:rPr sz="1200" spc="-5" dirty="0">
                <a:solidFill>
                  <a:srgbClr val="FFFFFF"/>
                </a:solidFill>
                <a:latin typeface="Roboto Lt"/>
                <a:cs typeface="Roboto Lt"/>
              </a:rPr>
              <a:t> </a:t>
            </a:r>
            <a:r>
              <a:rPr sz="1200" dirty="0">
                <a:solidFill>
                  <a:srgbClr val="FFFFFF"/>
                </a:solidFill>
                <a:latin typeface="Roboto Lt"/>
                <a:cs typeface="Roboto Lt"/>
              </a:rPr>
              <a:t>motivated</a:t>
            </a:r>
            <a:r>
              <a:rPr sz="1200" spc="-30" dirty="0">
                <a:solidFill>
                  <a:srgbClr val="FFFFFF"/>
                </a:solidFill>
                <a:latin typeface="Roboto Lt"/>
                <a:cs typeface="Roboto Lt"/>
              </a:rPr>
              <a:t> </a:t>
            </a:r>
            <a:r>
              <a:rPr sz="1200" dirty="0">
                <a:solidFill>
                  <a:srgbClr val="FFFFFF"/>
                </a:solidFill>
                <a:latin typeface="Roboto Lt"/>
                <a:cs typeface="Roboto Lt"/>
              </a:rPr>
              <a:t>our</a:t>
            </a:r>
            <a:r>
              <a:rPr sz="1200" spc="-45" dirty="0">
                <a:solidFill>
                  <a:srgbClr val="FFFFFF"/>
                </a:solidFill>
                <a:latin typeface="Roboto Lt"/>
                <a:cs typeface="Roboto Lt"/>
              </a:rPr>
              <a:t> </a:t>
            </a:r>
            <a:r>
              <a:rPr sz="1200" dirty="0">
                <a:solidFill>
                  <a:srgbClr val="FFFFFF"/>
                </a:solidFill>
                <a:latin typeface="Roboto Lt"/>
                <a:cs typeface="Roboto Lt"/>
              </a:rPr>
              <a:t>exploration</a:t>
            </a:r>
            <a:r>
              <a:rPr sz="1200" spc="-20" dirty="0">
                <a:solidFill>
                  <a:srgbClr val="FFFFFF"/>
                </a:solidFill>
                <a:latin typeface="Roboto Lt"/>
                <a:cs typeface="Roboto Lt"/>
              </a:rPr>
              <a:t> </a:t>
            </a:r>
            <a:r>
              <a:rPr sz="1200" dirty="0">
                <a:solidFill>
                  <a:srgbClr val="FFFFFF"/>
                </a:solidFill>
                <a:latin typeface="Roboto Lt"/>
                <a:cs typeface="Roboto Lt"/>
              </a:rPr>
              <a:t>of</a:t>
            </a:r>
            <a:r>
              <a:rPr sz="1200" spc="-40" dirty="0">
                <a:solidFill>
                  <a:srgbClr val="FFFFFF"/>
                </a:solidFill>
                <a:latin typeface="Roboto Lt"/>
                <a:cs typeface="Roboto Lt"/>
              </a:rPr>
              <a:t> </a:t>
            </a:r>
            <a:r>
              <a:rPr sz="1200" dirty="0">
                <a:solidFill>
                  <a:srgbClr val="FFFFFF"/>
                </a:solidFill>
                <a:latin typeface="Roboto Lt"/>
                <a:cs typeface="Roboto Lt"/>
              </a:rPr>
              <a:t>deep</a:t>
            </a:r>
            <a:r>
              <a:rPr sz="1200" spc="-40" dirty="0">
                <a:solidFill>
                  <a:srgbClr val="FFFFFF"/>
                </a:solidFill>
                <a:latin typeface="Roboto Lt"/>
                <a:cs typeface="Roboto Lt"/>
              </a:rPr>
              <a:t> </a:t>
            </a:r>
            <a:r>
              <a:rPr sz="1200" dirty="0">
                <a:solidFill>
                  <a:srgbClr val="FFFFFF"/>
                </a:solidFill>
                <a:latin typeface="Roboto Lt"/>
                <a:cs typeface="Roboto Lt"/>
              </a:rPr>
              <a:t>learning</a:t>
            </a:r>
            <a:r>
              <a:rPr sz="1200" spc="-35" dirty="0">
                <a:solidFill>
                  <a:srgbClr val="FFFFFF"/>
                </a:solidFill>
                <a:latin typeface="Roboto Lt"/>
                <a:cs typeface="Roboto Lt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Roboto Lt"/>
                <a:cs typeface="Roboto Lt"/>
              </a:rPr>
              <a:t>approaches.</a:t>
            </a:r>
            <a:endParaRPr sz="1200">
              <a:latin typeface="Roboto Lt"/>
              <a:cs typeface="Roboto Lt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2663043" y="7720097"/>
            <a:ext cx="1863725" cy="480059"/>
            <a:chOff x="12663043" y="7720097"/>
            <a:chExt cx="1863725" cy="480059"/>
          </a:xfrm>
        </p:grpSpPr>
        <p:sp>
          <p:nvSpPr>
            <p:cNvPr id="15" name="object 15">
              <a:hlinkClick r:id="rId5"/>
            </p:cNvPr>
            <p:cNvSpPr/>
            <p:nvPr/>
          </p:nvSpPr>
          <p:spPr>
            <a:xfrm>
              <a:off x="12669393" y="7726447"/>
              <a:ext cx="1851025" cy="467359"/>
            </a:xfrm>
            <a:custGeom>
              <a:avLst/>
              <a:gdLst/>
              <a:ahLst/>
              <a:cxnLst/>
              <a:rect l="l" t="t" r="r" b="b"/>
              <a:pathLst>
                <a:path w="1851025" h="467359">
                  <a:moveTo>
                    <a:pt x="1850770" y="0"/>
                  </a:moveTo>
                  <a:lnTo>
                    <a:pt x="0" y="0"/>
                  </a:lnTo>
                  <a:lnTo>
                    <a:pt x="0" y="467194"/>
                  </a:lnTo>
                  <a:lnTo>
                    <a:pt x="1850770" y="467194"/>
                  </a:lnTo>
                  <a:lnTo>
                    <a:pt x="185077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>
              <a:hlinkClick r:id="rId5"/>
            </p:cNvPr>
            <p:cNvSpPr/>
            <p:nvPr/>
          </p:nvSpPr>
          <p:spPr>
            <a:xfrm>
              <a:off x="12669393" y="7726447"/>
              <a:ext cx="1851025" cy="467359"/>
            </a:xfrm>
            <a:custGeom>
              <a:avLst/>
              <a:gdLst/>
              <a:ahLst/>
              <a:cxnLst/>
              <a:rect l="l" t="t" r="r" b="b"/>
              <a:pathLst>
                <a:path w="1851025" h="467359">
                  <a:moveTo>
                    <a:pt x="0" y="467194"/>
                  </a:moveTo>
                  <a:lnTo>
                    <a:pt x="1850770" y="467194"/>
                  </a:lnTo>
                  <a:lnTo>
                    <a:pt x="1850770" y="0"/>
                  </a:lnTo>
                  <a:lnTo>
                    <a:pt x="0" y="0"/>
                  </a:lnTo>
                  <a:lnTo>
                    <a:pt x="0" y="467194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1"/>
            <a:ext cx="5486399" cy="82295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05193" rIns="0" bIns="0" rtlCol="0">
            <a:spAutoFit/>
          </a:bodyPr>
          <a:lstStyle/>
          <a:p>
            <a:pPr marL="5149215" marR="5080">
              <a:lnSpc>
                <a:spcPct val="106600"/>
              </a:lnSpc>
              <a:spcBef>
                <a:spcPts val="100"/>
              </a:spcBef>
            </a:pPr>
            <a:r>
              <a:rPr spc="85" dirty="0"/>
              <a:t>Deep</a:t>
            </a:r>
            <a:r>
              <a:rPr spc="-40" dirty="0"/>
              <a:t> </a:t>
            </a:r>
            <a:r>
              <a:rPr dirty="0"/>
              <a:t>Learning</a:t>
            </a:r>
            <a:r>
              <a:rPr spc="-25" dirty="0"/>
              <a:t> </a:t>
            </a:r>
            <a:r>
              <a:rPr dirty="0"/>
              <a:t>Approach:</a:t>
            </a:r>
            <a:r>
              <a:rPr spc="-20" dirty="0"/>
              <a:t> </a:t>
            </a:r>
            <a:r>
              <a:rPr dirty="0"/>
              <a:t>From</a:t>
            </a:r>
            <a:r>
              <a:rPr spc="-35" dirty="0"/>
              <a:t> </a:t>
            </a:r>
            <a:r>
              <a:rPr spc="110" dirty="0"/>
              <a:t>Scratch</a:t>
            </a:r>
            <a:r>
              <a:rPr spc="-5" dirty="0"/>
              <a:t> </a:t>
            </a:r>
            <a:r>
              <a:rPr spc="-25" dirty="0"/>
              <a:t>to</a:t>
            </a:r>
            <a:r>
              <a:rPr u="none" spc="-25" dirty="0"/>
              <a:t> </a:t>
            </a:r>
            <a:r>
              <a:rPr spc="-10" dirty="0"/>
              <a:t>Transfer</a:t>
            </a:r>
            <a:r>
              <a:rPr spc="-215" dirty="0"/>
              <a:t> </a:t>
            </a:r>
            <a:r>
              <a:rPr spc="-10" dirty="0"/>
              <a:t>Learning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41110" y="2065908"/>
            <a:ext cx="742708" cy="109347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737095" y="2053208"/>
            <a:ext cx="7134225" cy="8851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E4DFDF"/>
                </a:solidFill>
                <a:latin typeface="Lucida Sans Unicode"/>
                <a:cs typeface="Lucida Sans Unicode"/>
              </a:rPr>
              <a:t>CNN</a:t>
            </a:r>
            <a:r>
              <a:rPr sz="1600" spc="-85" dirty="0">
                <a:solidFill>
                  <a:srgbClr val="E4DFDF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E4DFDF"/>
                </a:solidFill>
                <a:latin typeface="Lucida Sans Unicode"/>
                <a:cs typeface="Lucida Sans Unicode"/>
              </a:rPr>
              <a:t>from</a:t>
            </a:r>
            <a:r>
              <a:rPr sz="1600" spc="-80" dirty="0">
                <a:solidFill>
                  <a:srgbClr val="E4DFDF"/>
                </a:solidFill>
                <a:latin typeface="Lucida Sans Unicode"/>
                <a:cs typeface="Lucida Sans Unicode"/>
              </a:rPr>
              <a:t> </a:t>
            </a:r>
            <a:r>
              <a:rPr sz="1600" spc="45" dirty="0">
                <a:solidFill>
                  <a:srgbClr val="E4DFDF"/>
                </a:solidFill>
                <a:latin typeface="Lucida Sans Unicode"/>
                <a:cs typeface="Lucida Sans Unicode"/>
              </a:rPr>
              <a:t>Scratch</a:t>
            </a:r>
            <a:endParaRPr sz="16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1270"/>
              </a:spcBef>
            </a:pPr>
            <a:r>
              <a:rPr sz="1400" dirty="0">
                <a:solidFill>
                  <a:srgbClr val="E4DFDF"/>
                </a:solidFill>
                <a:latin typeface="Roboto Lt"/>
                <a:cs typeface="Roboto Lt"/>
              </a:rPr>
              <a:t>Initial</a:t>
            </a:r>
            <a:r>
              <a:rPr sz="1400" spc="-4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400" dirty="0">
                <a:solidFill>
                  <a:srgbClr val="E4DFDF"/>
                </a:solidFill>
                <a:latin typeface="Roboto Lt"/>
                <a:cs typeface="Roboto Lt"/>
              </a:rPr>
              <a:t>attempt</a:t>
            </a:r>
            <a:r>
              <a:rPr sz="1400" spc="-8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400" dirty="0">
                <a:solidFill>
                  <a:srgbClr val="E4DFDF"/>
                </a:solidFill>
                <a:latin typeface="Roboto Lt"/>
                <a:cs typeface="Roboto Lt"/>
              </a:rPr>
              <a:t>with</a:t>
            </a:r>
            <a:r>
              <a:rPr sz="1400" spc="-4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400" dirty="0">
                <a:solidFill>
                  <a:srgbClr val="E4DFDF"/>
                </a:solidFill>
                <a:latin typeface="Roboto Lt"/>
                <a:cs typeface="Roboto Lt"/>
              </a:rPr>
              <a:t>custom</a:t>
            </a:r>
            <a:r>
              <a:rPr sz="1400" spc="-35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400" dirty="0">
                <a:solidFill>
                  <a:srgbClr val="E4DFDF"/>
                </a:solidFill>
                <a:latin typeface="Roboto Lt"/>
                <a:cs typeface="Roboto Lt"/>
              </a:rPr>
              <a:t>convolutional</a:t>
            </a:r>
            <a:r>
              <a:rPr sz="1400" spc="-35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400" dirty="0">
                <a:solidFill>
                  <a:srgbClr val="E4DFDF"/>
                </a:solidFill>
                <a:latin typeface="Roboto Lt"/>
                <a:cs typeface="Roboto Lt"/>
              </a:rPr>
              <a:t>neural</a:t>
            </a:r>
            <a:r>
              <a:rPr sz="1400" spc="-35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400" dirty="0">
                <a:solidFill>
                  <a:srgbClr val="E4DFDF"/>
                </a:solidFill>
                <a:latin typeface="Roboto Lt"/>
                <a:cs typeface="Roboto Lt"/>
              </a:rPr>
              <a:t>network</a:t>
            </a:r>
            <a:r>
              <a:rPr sz="1400" spc="-4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400" dirty="0">
                <a:solidFill>
                  <a:srgbClr val="E4DFDF"/>
                </a:solidFill>
                <a:latin typeface="Roboto Lt"/>
                <a:cs typeface="Roboto Lt"/>
              </a:rPr>
              <a:t>revealed</a:t>
            </a:r>
            <a:r>
              <a:rPr sz="1400" spc="-6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400" dirty="0">
                <a:solidFill>
                  <a:srgbClr val="E4DFDF"/>
                </a:solidFill>
                <a:latin typeface="Roboto Lt"/>
                <a:cs typeface="Roboto Lt"/>
              </a:rPr>
              <a:t>severe</a:t>
            </a:r>
            <a:r>
              <a:rPr sz="1400" spc="-35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400" dirty="0">
                <a:solidFill>
                  <a:srgbClr val="E4DFDF"/>
                </a:solidFill>
                <a:latin typeface="Roboto Lt"/>
                <a:cs typeface="Roboto Lt"/>
              </a:rPr>
              <a:t>underfitting</a:t>
            </a:r>
            <a:r>
              <a:rPr sz="1400" spc="-5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400" dirty="0">
                <a:solidFill>
                  <a:srgbClr val="E4DFDF"/>
                </a:solidFill>
                <a:latin typeface="Roboto Lt"/>
                <a:cs typeface="Roboto Lt"/>
              </a:rPr>
              <a:t>due</a:t>
            </a:r>
            <a:r>
              <a:rPr sz="1400" spc="-35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400" spc="-25" dirty="0">
                <a:solidFill>
                  <a:srgbClr val="E4DFDF"/>
                </a:solidFill>
                <a:latin typeface="Roboto Lt"/>
                <a:cs typeface="Roboto Lt"/>
              </a:rPr>
              <a:t>to</a:t>
            </a:r>
            <a:endParaRPr sz="1400">
              <a:latin typeface="Roboto Lt"/>
              <a:cs typeface="Roboto Lt"/>
            </a:endParaRPr>
          </a:p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sz="1400" dirty="0">
                <a:solidFill>
                  <a:srgbClr val="E4DFDF"/>
                </a:solidFill>
                <a:latin typeface="Roboto Lt"/>
                <a:cs typeface="Roboto Lt"/>
              </a:rPr>
              <a:t>limited</a:t>
            </a:r>
            <a:r>
              <a:rPr sz="1400" spc="-55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400" dirty="0">
                <a:solidFill>
                  <a:srgbClr val="E4DFDF"/>
                </a:solidFill>
                <a:latin typeface="Roboto Lt"/>
                <a:cs typeface="Roboto Lt"/>
              </a:rPr>
              <a:t>dataset</a:t>
            </a:r>
            <a:r>
              <a:rPr sz="1400" spc="-65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400" dirty="0">
                <a:solidFill>
                  <a:srgbClr val="E4DFDF"/>
                </a:solidFill>
                <a:latin typeface="Roboto Lt"/>
                <a:cs typeface="Roboto Lt"/>
              </a:rPr>
              <a:t>size.</a:t>
            </a:r>
            <a:r>
              <a:rPr sz="1400" spc="-2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400" dirty="0">
                <a:solidFill>
                  <a:srgbClr val="E4DFDF"/>
                </a:solidFill>
                <a:latin typeface="Roboto Lt"/>
                <a:cs typeface="Roboto Lt"/>
              </a:rPr>
              <a:t>Accuracy</a:t>
            </a:r>
            <a:r>
              <a:rPr sz="1400" spc="-2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400" dirty="0">
                <a:solidFill>
                  <a:srgbClr val="E4DFDF"/>
                </a:solidFill>
                <a:latin typeface="Roboto Lt"/>
                <a:cs typeface="Roboto Lt"/>
              </a:rPr>
              <a:t>plateaued</a:t>
            </a:r>
            <a:r>
              <a:rPr sz="1400" spc="-7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400" dirty="0">
                <a:solidFill>
                  <a:srgbClr val="E4DFDF"/>
                </a:solidFill>
                <a:latin typeface="Roboto Lt"/>
                <a:cs typeface="Roboto Lt"/>
              </a:rPr>
              <a:t>at</a:t>
            </a:r>
            <a:r>
              <a:rPr sz="1400" spc="-4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400" dirty="0">
                <a:solidFill>
                  <a:srgbClr val="E4DFDF"/>
                </a:solidFill>
                <a:latin typeface="Roboto Lt"/>
                <a:cs typeface="Roboto Lt"/>
              </a:rPr>
              <a:t>only</a:t>
            </a:r>
            <a:r>
              <a:rPr sz="1400" spc="-25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400" spc="-65" dirty="0">
                <a:solidFill>
                  <a:srgbClr val="E4DFDF"/>
                </a:solidFill>
                <a:latin typeface="Roboto Lt"/>
                <a:cs typeface="Roboto Lt"/>
              </a:rPr>
              <a:t>40-</a:t>
            </a:r>
            <a:r>
              <a:rPr sz="1400" dirty="0">
                <a:solidFill>
                  <a:srgbClr val="E4DFDF"/>
                </a:solidFill>
                <a:latin typeface="Roboto Lt"/>
                <a:cs typeface="Roboto Lt"/>
              </a:rPr>
              <a:t>55%,</a:t>
            </a:r>
            <a:r>
              <a:rPr sz="1400" spc="-75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400" dirty="0">
                <a:solidFill>
                  <a:srgbClr val="E4DFDF"/>
                </a:solidFill>
                <a:latin typeface="Roboto Lt"/>
                <a:cs typeface="Roboto Lt"/>
              </a:rPr>
              <a:t>indicating</a:t>
            </a:r>
            <a:r>
              <a:rPr sz="1400" spc="-3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400" dirty="0">
                <a:solidFill>
                  <a:srgbClr val="E4DFDF"/>
                </a:solidFill>
                <a:latin typeface="Roboto Lt"/>
                <a:cs typeface="Roboto Lt"/>
              </a:rPr>
              <a:t>insufficient</a:t>
            </a:r>
            <a:r>
              <a:rPr sz="1400" spc="-2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400" dirty="0">
                <a:solidFill>
                  <a:srgbClr val="E4DFDF"/>
                </a:solidFill>
                <a:latin typeface="Roboto Lt"/>
                <a:cs typeface="Roboto Lt"/>
              </a:rPr>
              <a:t>training</a:t>
            </a:r>
            <a:r>
              <a:rPr sz="1400" spc="-3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400" spc="-10" dirty="0">
                <a:solidFill>
                  <a:srgbClr val="E4DFDF"/>
                </a:solidFill>
                <a:latin typeface="Roboto Lt"/>
                <a:cs typeface="Roboto Lt"/>
              </a:rPr>
              <a:t>data.</a:t>
            </a:r>
            <a:endParaRPr sz="1400">
              <a:latin typeface="Roboto Lt"/>
              <a:cs typeface="Roboto Lt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847841" y="3758691"/>
            <a:ext cx="742708" cy="109346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6737095" y="3745738"/>
            <a:ext cx="7218045" cy="87439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E4DFDF"/>
                </a:solidFill>
                <a:latin typeface="Lucida Sans Unicode"/>
                <a:cs typeface="Lucida Sans Unicode"/>
              </a:rPr>
              <a:t>Transfer</a:t>
            </a:r>
            <a:r>
              <a:rPr sz="1600" spc="-105" dirty="0">
                <a:solidFill>
                  <a:srgbClr val="E4DFDF"/>
                </a:solidFill>
                <a:latin typeface="Lucida Sans Unicode"/>
                <a:cs typeface="Lucida Sans Unicode"/>
              </a:rPr>
              <a:t> </a:t>
            </a:r>
            <a:r>
              <a:rPr sz="1600" spc="-10" dirty="0">
                <a:solidFill>
                  <a:srgbClr val="E4DFDF"/>
                </a:solidFill>
                <a:latin typeface="Lucida Sans Unicode"/>
                <a:cs typeface="Lucida Sans Unicode"/>
              </a:rPr>
              <a:t>Learning</a:t>
            </a:r>
            <a:endParaRPr sz="16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1190"/>
              </a:spcBef>
            </a:pPr>
            <a:r>
              <a:rPr sz="1400" spc="-10" dirty="0">
                <a:solidFill>
                  <a:srgbClr val="E4DFDF"/>
                </a:solidFill>
                <a:latin typeface="Roboto Lt"/>
                <a:cs typeface="Roboto Lt"/>
              </a:rPr>
              <a:t>Leveraged</a:t>
            </a:r>
            <a:r>
              <a:rPr sz="1400" spc="-55" dirty="0">
                <a:solidFill>
                  <a:srgbClr val="E4DFDF"/>
                </a:solidFill>
                <a:latin typeface="Roboto Lt"/>
                <a:cs typeface="Roboto Lt"/>
              </a:rPr>
              <a:t> pre-</a:t>
            </a:r>
            <a:r>
              <a:rPr sz="1400" dirty="0">
                <a:solidFill>
                  <a:srgbClr val="E4DFDF"/>
                </a:solidFill>
                <a:latin typeface="Roboto Lt"/>
                <a:cs typeface="Roboto Lt"/>
              </a:rPr>
              <a:t>trained</a:t>
            </a:r>
            <a:r>
              <a:rPr sz="1400" spc="-25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400" dirty="0">
                <a:solidFill>
                  <a:srgbClr val="E4DFDF"/>
                </a:solidFill>
                <a:latin typeface="Roboto Lt"/>
                <a:cs typeface="Roboto Lt"/>
              </a:rPr>
              <a:t>MobileNetV2</a:t>
            </a:r>
            <a:r>
              <a:rPr sz="1400" spc="-5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400" dirty="0">
                <a:solidFill>
                  <a:srgbClr val="E4DFDF"/>
                </a:solidFill>
                <a:latin typeface="Roboto Lt"/>
                <a:cs typeface="Roboto Lt"/>
              </a:rPr>
              <a:t>and</a:t>
            </a:r>
            <a:r>
              <a:rPr sz="1400" spc="-2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400" dirty="0">
                <a:solidFill>
                  <a:srgbClr val="E4DFDF"/>
                </a:solidFill>
                <a:latin typeface="Roboto Lt"/>
                <a:cs typeface="Roboto Lt"/>
              </a:rPr>
              <a:t>EfficientNet</a:t>
            </a:r>
            <a:r>
              <a:rPr sz="1400" spc="-3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400" dirty="0">
                <a:solidFill>
                  <a:srgbClr val="E4DFDF"/>
                </a:solidFill>
                <a:latin typeface="Roboto Lt"/>
                <a:cs typeface="Roboto Lt"/>
              </a:rPr>
              <a:t>architectures,</a:t>
            </a:r>
            <a:r>
              <a:rPr sz="1400" spc="-15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400" spc="-45" dirty="0">
                <a:solidFill>
                  <a:srgbClr val="E4DFDF"/>
                </a:solidFill>
                <a:latin typeface="Roboto Lt"/>
                <a:cs typeface="Roboto Lt"/>
              </a:rPr>
              <a:t>fine-</a:t>
            </a:r>
            <a:r>
              <a:rPr sz="1400" dirty="0">
                <a:solidFill>
                  <a:srgbClr val="E4DFDF"/>
                </a:solidFill>
                <a:latin typeface="Roboto Lt"/>
                <a:cs typeface="Roboto Lt"/>
              </a:rPr>
              <a:t>tuning</a:t>
            </a:r>
            <a:r>
              <a:rPr sz="1400" spc="-15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400" dirty="0">
                <a:solidFill>
                  <a:srgbClr val="E4DFDF"/>
                </a:solidFill>
                <a:latin typeface="Roboto Lt"/>
                <a:cs typeface="Roboto Lt"/>
              </a:rPr>
              <a:t>them</a:t>
            </a:r>
            <a:r>
              <a:rPr sz="1400" spc="-25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400" dirty="0">
                <a:solidFill>
                  <a:srgbClr val="E4DFDF"/>
                </a:solidFill>
                <a:latin typeface="Roboto Lt"/>
                <a:cs typeface="Roboto Lt"/>
              </a:rPr>
              <a:t>on</a:t>
            </a:r>
            <a:r>
              <a:rPr sz="1400" spc="-15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400" spc="-25" dirty="0">
                <a:solidFill>
                  <a:srgbClr val="E4DFDF"/>
                </a:solidFill>
                <a:latin typeface="Roboto Lt"/>
                <a:cs typeface="Roboto Lt"/>
              </a:rPr>
              <a:t>our</a:t>
            </a:r>
            <a:endParaRPr sz="1400">
              <a:latin typeface="Roboto Lt"/>
              <a:cs typeface="Roboto Lt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1400" dirty="0">
                <a:solidFill>
                  <a:srgbClr val="E4DFDF"/>
                </a:solidFill>
                <a:latin typeface="Roboto Lt"/>
                <a:cs typeface="Roboto Lt"/>
              </a:rPr>
              <a:t>scanner</a:t>
            </a:r>
            <a:r>
              <a:rPr sz="1400" spc="-15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400" dirty="0">
                <a:solidFill>
                  <a:srgbClr val="E4DFDF"/>
                </a:solidFill>
                <a:latin typeface="Roboto Lt"/>
                <a:cs typeface="Roboto Lt"/>
              </a:rPr>
              <a:t>dataset.</a:t>
            </a:r>
            <a:r>
              <a:rPr sz="1400" spc="-55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400" dirty="0">
                <a:solidFill>
                  <a:srgbClr val="E4DFDF"/>
                </a:solidFill>
                <a:latin typeface="Roboto Lt"/>
                <a:cs typeface="Roboto Lt"/>
              </a:rPr>
              <a:t>Applied</a:t>
            </a:r>
            <a:r>
              <a:rPr sz="1400" spc="-4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400" dirty="0">
                <a:solidFill>
                  <a:srgbClr val="E4DFDF"/>
                </a:solidFill>
                <a:latin typeface="Roboto Lt"/>
                <a:cs typeface="Roboto Lt"/>
              </a:rPr>
              <a:t>extensive</a:t>
            </a:r>
            <a:r>
              <a:rPr sz="1400" spc="-35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400" dirty="0">
                <a:solidFill>
                  <a:srgbClr val="E4DFDF"/>
                </a:solidFill>
                <a:latin typeface="Roboto Lt"/>
                <a:cs typeface="Roboto Lt"/>
              </a:rPr>
              <a:t>data</a:t>
            </a:r>
            <a:r>
              <a:rPr sz="1400" spc="-45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400" dirty="0">
                <a:solidFill>
                  <a:srgbClr val="E4DFDF"/>
                </a:solidFill>
                <a:latin typeface="Roboto Lt"/>
                <a:cs typeface="Roboto Lt"/>
              </a:rPr>
              <a:t>augmentation</a:t>
            </a:r>
            <a:r>
              <a:rPr sz="1400" spc="-55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400" dirty="0">
                <a:solidFill>
                  <a:srgbClr val="E4DFDF"/>
                </a:solidFill>
                <a:latin typeface="Roboto Lt"/>
                <a:cs typeface="Roboto Lt"/>
              </a:rPr>
              <a:t>to</a:t>
            </a:r>
            <a:r>
              <a:rPr sz="1400" spc="-35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400" dirty="0">
                <a:solidFill>
                  <a:srgbClr val="E4DFDF"/>
                </a:solidFill>
                <a:latin typeface="Roboto Lt"/>
                <a:cs typeface="Roboto Lt"/>
              </a:rPr>
              <a:t>artificially</a:t>
            </a:r>
            <a:r>
              <a:rPr sz="1400" spc="-35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400" dirty="0">
                <a:solidFill>
                  <a:srgbClr val="E4DFDF"/>
                </a:solidFill>
                <a:latin typeface="Roboto Lt"/>
                <a:cs typeface="Roboto Lt"/>
              </a:rPr>
              <a:t>expand</a:t>
            </a:r>
            <a:r>
              <a:rPr sz="1400" spc="-4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400" dirty="0">
                <a:solidFill>
                  <a:srgbClr val="E4DFDF"/>
                </a:solidFill>
                <a:latin typeface="Roboto Lt"/>
                <a:cs typeface="Roboto Lt"/>
              </a:rPr>
              <a:t>training</a:t>
            </a:r>
            <a:r>
              <a:rPr sz="1400" spc="-25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400" spc="-10" dirty="0">
                <a:solidFill>
                  <a:srgbClr val="E4DFDF"/>
                </a:solidFill>
                <a:latin typeface="Roboto Lt"/>
                <a:cs typeface="Roboto Lt"/>
              </a:rPr>
              <a:t>samples.</a:t>
            </a:r>
            <a:endParaRPr sz="1400">
              <a:latin typeface="Roboto Lt"/>
              <a:cs typeface="Roboto Lt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847841" y="5677915"/>
            <a:ext cx="742708" cy="109347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6737095" y="5648325"/>
            <a:ext cx="6884670" cy="9575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0960">
              <a:lnSpc>
                <a:spcPct val="100000"/>
              </a:lnSpc>
              <a:spcBef>
                <a:spcPts val="95"/>
              </a:spcBef>
            </a:pPr>
            <a:r>
              <a:rPr sz="1600" spc="10" dirty="0">
                <a:solidFill>
                  <a:srgbClr val="E4DFDF"/>
                </a:solidFill>
                <a:latin typeface="Lucida Sans Unicode"/>
                <a:cs typeface="Lucida Sans Unicode"/>
              </a:rPr>
              <a:t>Performance</a:t>
            </a:r>
            <a:r>
              <a:rPr sz="1600" spc="315" dirty="0">
                <a:solidFill>
                  <a:srgbClr val="E4DFDF"/>
                </a:solidFill>
                <a:latin typeface="Lucida Sans Unicode"/>
                <a:cs typeface="Lucida Sans Unicode"/>
              </a:rPr>
              <a:t> </a:t>
            </a:r>
            <a:r>
              <a:rPr sz="1600" spc="-10" dirty="0">
                <a:solidFill>
                  <a:srgbClr val="E4DFDF"/>
                </a:solidFill>
                <a:latin typeface="Lucida Sans Unicode"/>
                <a:cs typeface="Lucida Sans Unicode"/>
              </a:rPr>
              <a:t>Breakthrough</a:t>
            </a:r>
            <a:endParaRPr sz="16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1839"/>
              </a:spcBef>
            </a:pPr>
            <a:r>
              <a:rPr sz="1400" dirty="0">
                <a:solidFill>
                  <a:srgbClr val="E4DFDF"/>
                </a:solidFill>
                <a:latin typeface="Roboto Lt"/>
                <a:cs typeface="Roboto Lt"/>
              </a:rPr>
              <a:t>Achieved</a:t>
            </a:r>
            <a:r>
              <a:rPr sz="1400" spc="-45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400" dirty="0">
                <a:solidFill>
                  <a:srgbClr val="E4DFDF"/>
                </a:solidFill>
                <a:latin typeface="Roboto Lt"/>
                <a:cs typeface="Roboto Lt"/>
              </a:rPr>
              <a:t>dramatic</a:t>
            </a:r>
            <a:r>
              <a:rPr sz="1400" spc="-7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400" dirty="0">
                <a:solidFill>
                  <a:srgbClr val="E4DFDF"/>
                </a:solidFill>
                <a:latin typeface="Roboto Lt"/>
                <a:cs typeface="Roboto Lt"/>
              </a:rPr>
              <a:t>improvement</a:t>
            </a:r>
            <a:r>
              <a:rPr sz="1400" spc="-55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400" dirty="0">
                <a:solidFill>
                  <a:srgbClr val="E4DFDF"/>
                </a:solidFill>
                <a:latin typeface="Roboto Lt"/>
                <a:cs typeface="Roboto Lt"/>
              </a:rPr>
              <a:t>with</a:t>
            </a:r>
            <a:r>
              <a:rPr sz="1400" spc="-5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400" dirty="0">
                <a:solidFill>
                  <a:srgbClr val="E4DFDF"/>
                </a:solidFill>
                <a:latin typeface="Roboto Lt"/>
                <a:cs typeface="Roboto Lt"/>
              </a:rPr>
              <a:t>82%</a:t>
            </a:r>
            <a:r>
              <a:rPr sz="1400" spc="-4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400" dirty="0">
                <a:solidFill>
                  <a:srgbClr val="E4DFDF"/>
                </a:solidFill>
                <a:latin typeface="Roboto Lt"/>
                <a:cs typeface="Roboto Lt"/>
              </a:rPr>
              <a:t>training</a:t>
            </a:r>
            <a:r>
              <a:rPr sz="1400" spc="-25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400" dirty="0">
                <a:solidFill>
                  <a:srgbClr val="E4DFDF"/>
                </a:solidFill>
                <a:latin typeface="Roboto Lt"/>
                <a:cs typeface="Roboto Lt"/>
              </a:rPr>
              <a:t>accuracy</a:t>
            </a:r>
            <a:r>
              <a:rPr sz="1400" spc="-3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400" dirty="0">
                <a:solidFill>
                  <a:srgbClr val="E4DFDF"/>
                </a:solidFill>
                <a:latin typeface="Roboto Lt"/>
                <a:cs typeface="Roboto Lt"/>
              </a:rPr>
              <a:t>and</a:t>
            </a:r>
            <a:r>
              <a:rPr sz="1400" spc="-35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400" dirty="0">
                <a:solidFill>
                  <a:srgbClr val="E4DFDF"/>
                </a:solidFill>
                <a:latin typeface="Roboto Lt"/>
                <a:cs typeface="Roboto Lt"/>
              </a:rPr>
              <a:t>84%+</a:t>
            </a:r>
            <a:r>
              <a:rPr sz="1400" spc="-6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400" spc="-10" dirty="0">
                <a:solidFill>
                  <a:srgbClr val="E4DFDF"/>
                </a:solidFill>
                <a:latin typeface="Roboto Lt"/>
                <a:cs typeface="Roboto Lt"/>
              </a:rPr>
              <a:t>validation/testing</a:t>
            </a:r>
            <a:endParaRPr sz="1400">
              <a:latin typeface="Roboto Lt"/>
              <a:cs typeface="Roboto Lt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1400" dirty="0">
                <a:solidFill>
                  <a:srgbClr val="E4DFDF"/>
                </a:solidFill>
                <a:latin typeface="Roboto Lt"/>
                <a:cs typeface="Roboto Lt"/>
              </a:rPr>
              <a:t>accuracy.</a:t>
            </a:r>
            <a:r>
              <a:rPr sz="1400" spc="-3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400" dirty="0">
                <a:solidFill>
                  <a:srgbClr val="E4DFDF"/>
                </a:solidFill>
                <a:latin typeface="Roboto Lt"/>
                <a:cs typeface="Roboto Lt"/>
              </a:rPr>
              <a:t>Transfer</a:t>
            </a:r>
            <a:r>
              <a:rPr sz="1400" spc="-4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400" dirty="0">
                <a:solidFill>
                  <a:srgbClr val="E4DFDF"/>
                </a:solidFill>
                <a:latin typeface="Roboto Lt"/>
                <a:cs typeface="Roboto Lt"/>
              </a:rPr>
              <a:t>learning</a:t>
            </a:r>
            <a:r>
              <a:rPr sz="1400" spc="-25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400" dirty="0">
                <a:solidFill>
                  <a:srgbClr val="E4DFDF"/>
                </a:solidFill>
                <a:latin typeface="Roboto Lt"/>
                <a:cs typeface="Roboto Lt"/>
              </a:rPr>
              <a:t>effectively</a:t>
            </a:r>
            <a:r>
              <a:rPr sz="1400" spc="-7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400" dirty="0">
                <a:solidFill>
                  <a:srgbClr val="E4DFDF"/>
                </a:solidFill>
                <a:latin typeface="Roboto Lt"/>
                <a:cs typeface="Roboto Lt"/>
              </a:rPr>
              <a:t>addressed</a:t>
            </a:r>
            <a:r>
              <a:rPr sz="1400" spc="-6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400" dirty="0">
                <a:solidFill>
                  <a:srgbClr val="E4DFDF"/>
                </a:solidFill>
                <a:latin typeface="Roboto Lt"/>
                <a:cs typeface="Roboto Lt"/>
              </a:rPr>
              <a:t>the</a:t>
            </a:r>
            <a:r>
              <a:rPr sz="1400" spc="-3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400" dirty="0">
                <a:solidFill>
                  <a:srgbClr val="E4DFDF"/>
                </a:solidFill>
                <a:latin typeface="Roboto Lt"/>
                <a:cs typeface="Roboto Lt"/>
              </a:rPr>
              <a:t>small</a:t>
            </a:r>
            <a:r>
              <a:rPr sz="1400" spc="-5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400" dirty="0">
                <a:solidFill>
                  <a:srgbClr val="E4DFDF"/>
                </a:solidFill>
                <a:latin typeface="Roboto Lt"/>
                <a:cs typeface="Roboto Lt"/>
              </a:rPr>
              <a:t>dataset</a:t>
            </a:r>
            <a:r>
              <a:rPr sz="1400" spc="-6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400" spc="-10" dirty="0">
                <a:solidFill>
                  <a:srgbClr val="E4DFDF"/>
                </a:solidFill>
                <a:latin typeface="Roboto Lt"/>
                <a:cs typeface="Roboto Lt"/>
              </a:rPr>
              <a:t>challenge.</a:t>
            </a:r>
            <a:endParaRPr sz="1400">
              <a:latin typeface="Roboto Lt"/>
              <a:cs typeface="Roboto L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2663043" y="7720097"/>
            <a:ext cx="1863725" cy="480059"/>
            <a:chOff x="12663043" y="7720097"/>
            <a:chExt cx="1863725" cy="480059"/>
          </a:xfrm>
        </p:grpSpPr>
        <p:sp>
          <p:nvSpPr>
            <p:cNvPr id="11" name="object 11">
              <a:hlinkClick r:id="rId6"/>
            </p:cNvPr>
            <p:cNvSpPr/>
            <p:nvPr/>
          </p:nvSpPr>
          <p:spPr>
            <a:xfrm>
              <a:off x="12669393" y="7726447"/>
              <a:ext cx="1851025" cy="467359"/>
            </a:xfrm>
            <a:custGeom>
              <a:avLst/>
              <a:gdLst/>
              <a:ahLst/>
              <a:cxnLst/>
              <a:rect l="l" t="t" r="r" b="b"/>
              <a:pathLst>
                <a:path w="1851025" h="467359">
                  <a:moveTo>
                    <a:pt x="1850770" y="0"/>
                  </a:moveTo>
                  <a:lnTo>
                    <a:pt x="0" y="0"/>
                  </a:lnTo>
                  <a:lnTo>
                    <a:pt x="0" y="467194"/>
                  </a:lnTo>
                  <a:lnTo>
                    <a:pt x="1850770" y="467194"/>
                  </a:lnTo>
                  <a:lnTo>
                    <a:pt x="185077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>
              <a:hlinkClick r:id="rId6"/>
            </p:cNvPr>
            <p:cNvSpPr/>
            <p:nvPr/>
          </p:nvSpPr>
          <p:spPr>
            <a:xfrm>
              <a:off x="12669393" y="7726447"/>
              <a:ext cx="1851025" cy="467359"/>
            </a:xfrm>
            <a:custGeom>
              <a:avLst/>
              <a:gdLst/>
              <a:ahLst/>
              <a:cxnLst/>
              <a:rect l="l" t="t" r="r" b="b"/>
              <a:pathLst>
                <a:path w="1851025" h="467359">
                  <a:moveTo>
                    <a:pt x="0" y="467194"/>
                  </a:moveTo>
                  <a:lnTo>
                    <a:pt x="1850770" y="467194"/>
                  </a:lnTo>
                  <a:lnTo>
                    <a:pt x="1850770" y="0"/>
                  </a:lnTo>
                  <a:lnTo>
                    <a:pt x="0" y="0"/>
                  </a:lnTo>
                  <a:lnTo>
                    <a:pt x="0" y="467194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2663043" y="7720097"/>
            <a:ext cx="1899285" cy="480059"/>
            <a:chOff x="12663043" y="7720097"/>
            <a:chExt cx="1899285" cy="480059"/>
          </a:xfrm>
        </p:grpSpPr>
        <p:sp>
          <p:nvSpPr>
            <p:cNvPr id="3" name="object 3">
              <a:hlinkClick r:id="rId2"/>
            </p:cNvPr>
            <p:cNvSpPr/>
            <p:nvPr/>
          </p:nvSpPr>
          <p:spPr>
            <a:xfrm>
              <a:off x="12669393" y="7726447"/>
              <a:ext cx="1851025" cy="467359"/>
            </a:xfrm>
            <a:custGeom>
              <a:avLst/>
              <a:gdLst/>
              <a:ahLst/>
              <a:cxnLst/>
              <a:rect l="l" t="t" r="r" b="b"/>
              <a:pathLst>
                <a:path w="1851025" h="467359">
                  <a:moveTo>
                    <a:pt x="1850770" y="0"/>
                  </a:moveTo>
                  <a:lnTo>
                    <a:pt x="0" y="0"/>
                  </a:lnTo>
                  <a:lnTo>
                    <a:pt x="0" y="467194"/>
                  </a:lnTo>
                  <a:lnTo>
                    <a:pt x="1850770" y="467194"/>
                  </a:lnTo>
                  <a:lnTo>
                    <a:pt x="185077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>
              <a:hlinkClick r:id="rId2"/>
            </p:cNvPr>
            <p:cNvSpPr/>
            <p:nvPr/>
          </p:nvSpPr>
          <p:spPr>
            <a:xfrm>
              <a:off x="12669393" y="7726447"/>
              <a:ext cx="1851025" cy="467359"/>
            </a:xfrm>
            <a:custGeom>
              <a:avLst/>
              <a:gdLst/>
              <a:ahLst/>
              <a:cxnLst/>
              <a:rect l="l" t="t" r="r" b="b"/>
              <a:pathLst>
                <a:path w="1851025" h="467359">
                  <a:moveTo>
                    <a:pt x="0" y="467194"/>
                  </a:moveTo>
                  <a:lnTo>
                    <a:pt x="1850770" y="467194"/>
                  </a:lnTo>
                  <a:lnTo>
                    <a:pt x="1850770" y="0"/>
                  </a:lnTo>
                  <a:lnTo>
                    <a:pt x="0" y="0"/>
                  </a:lnTo>
                  <a:lnTo>
                    <a:pt x="0" y="467194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136394" y="254889"/>
            <a:ext cx="9784080" cy="497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100" dirty="0"/>
              <a:t>Model</a:t>
            </a:r>
            <a:r>
              <a:rPr sz="3100" spc="15" dirty="0"/>
              <a:t> </a:t>
            </a:r>
            <a:r>
              <a:rPr sz="3100" spc="-65" dirty="0"/>
              <a:t>Explainability:</a:t>
            </a:r>
            <a:r>
              <a:rPr sz="3100" spc="40" dirty="0"/>
              <a:t> </a:t>
            </a:r>
            <a:r>
              <a:rPr sz="3100" dirty="0"/>
              <a:t>Understanding</a:t>
            </a:r>
            <a:r>
              <a:rPr sz="3100" spc="40" dirty="0"/>
              <a:t> </a:t>
            </a:r>
            <a:r>
              <a:rPr sz="3100" spc="-20" dirty="0"/>
              <a:t>CNN</a:t>
            </a:r>
            <a:r>
              <a:rPr sz="3100" spc="20" dirty="0"/>
              <a:t> </a:t>
            </a:r>
            <a:r>
              <a:rPr sz="3100" spc="-10" dirty="0"/>
              <a:t>Decisions</a:t>
            </a:r>
            <a:endParaRPr sz="3100"/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27733" y="1168272"/>
            <a:ext cx="4997704" cy="499770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6702297" y="1090422"/>
            <a:ext cx="5675630" cy="15716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F1F1F3"/>
                </a:solidFill>
                <a:latin typeface="Lucida Sans Unicode"/>
                <a:cs typeface="Lucida Sans Unicode"/>
              </a:rPr>
              <a:t>Grad-CAM</a:t>
            </a:r>
            <a:r>
              <a:rPr sz="2000" spc="170" dirty="0">
                <a:solidFill>
                  <a:srgbClr val="F1F1F3"/>
                </a:solidFill>
                <a:latin typeface="Lucida Sans Unicode"/>
                <a:cs typeface="Lucida Sans Unicode"/>
              </a:rPr>
              <a:t> </a:t>
            </a:r>
            <a:r>
              <a:rPr sz="2000" spc="-10" dirty="0">
                <a:solidFill>
                  <a:srgbClr val="F1F1F3"/>
                </a:solidFill>
                <a:latin typeface="Lucida Sans Unicode"/>
                <a:cs typeface="Lucida Sans Unicode"/>
              </a:rPr>
              <a:t>Visualization</a:t>
            </a:r>
            <a:endParaRPr sz="2000">
              <a:latin typeface="Lucida Sans Unicode"/>
              <a:cs typeface="Lucida Sans Unicode"/>
            </a:endParaRPr>
          </a:p>
          <a:p>
            <a:pPr marL="12700" marR="5080">
              <a:lnSpc>
                <a:spcPct val="104200"/>
              </a:lnSpc>
              <a:spcBef>
                <a:spcPts val="1770"/>
              </a:spcBef>
            </a:pPr>
            <a:r>
              <a:rPr sz="1600" dirty="0">
                <a:solidFill>
                  <a:srgbClr val="E4DFDF"/>
                </a:solidFill>
                <a:latin typeface="Roboto Lt"/>
                <a:cs typeface="Roboto Lt"/>
              </a:rPr>
              <a:t>To</a:t>
            </a:r>
            <a:r>
              <a:rPr sz="1600" spc="-5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600" dirty="0">
                <a:solidFill>
                  <a:srgbClr val="E4DFDF"/>
                </a:solidFill>
                <a:latin typeface="Roboto Lt"/>
                <a:cs typeface="Roboto Lt"/>
              </a:rPr>
              <a:t>understand</a:t>
            </a:r>
            <a:r>
              <a:rPr sz="1600" spc="-45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600" dirty="0">
                <a:solidFill>
                  <a:srgbClr val="E4DFDF"/>
                </a:solidFill>
                <a:latin typeface="Roboto Lt"/>
                <a:cs typeface="Roboto Lt"/>
              </a:rPr>
              <a:t>what</a:t>
            </a:r>
            <a:r>
              <a:rPr sz="1600" spc="-35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600" dirty="0">
                <a:solidFill>
                  <a:srgbClr val="E4DFDF"/>
                </a:solidFill>
                <a:latin typeface="Roboto Lt"/>
                <a:cs typeface="Roboto Lt"/>
              </a:rPr>
              <a:t>our</a:t>
            </a:r>
            <a:r>
              <a:rPr sz="1600" spc="-45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600" dirty="0">
                <a:solidFill>
                  <a:srgbClr val="E4DFDF"/>
                </a:solidFill>
                <a:latin typeface="Roboto Lt"/>
                <a:cs typeface="Roboto Lt"/>
              </a:rPr>
              <a:t>CNN</a:t>
            </a:r>
            <a:r>
              <a:rPr sz="1600" spc="-4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600" dirty="0">
                <a:solidFill>
                  <a:srgbClr val="E4DFDF"/>
                </a:solidFill>
                <a:latin typeface="Roboto Lt"/>
                <a:cs typeface="Roboto Lt"/>
              </a:rPr>
              <a:t>models</a:t>
            </a:r>
            <a:r>
              <a:rPr sz="1600" spc="-35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600" dirty="0">
                <a:solidFill>
                  <a:srgbClr val="E4DFDF"/>
                </a:solidFill>
                <a:latin typeface="Roboto Lt"/>
                <a:cs typeface="Roboto Lt"/>
              </a:rPr>
              <a:t>actually</a:t>
            </a:r>
            <a:r>
              <a:rPr sz="1600" spc="-35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600" dirty="0">
                <a:solidFill>
                  <a:srgbClr val="E4DFDF"/>
                </a:solidFill>
                <a:latin typeface="Roboto Lt"/>
                <a:cs typeface="Roboto Lt"/>
              </a:rPr>
              <a:t>learned,</a:t>
            </a:r>
            <a:r>
              <a:rPr sz="1600" spc="-4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600" spc="-25" dirty="0">
                <a:solidFill>
                  <a:srgbClr val="E4DFDF"/>
                </a:solidFill>
                <a:latin typeface="Roboto Lt"/>
                <a:cs typeface="Roboto Lt"/>
              </a:rPr>
              <a:t>we </a:t>
            </a:r>
            <a:r>
              <a:rPr sz="1600" dirty="0">
                <a:solidFill>
                  <a:srgbClr val="E4DFDF"/>
                </a:solidFill>
                <a:latin typeface="Roboto Lt"/>
                <a:cs typeface="Roboto Lt"/>
              </a:rPr>
              <a:t>employed</a:t>
            </a:r>
            <a:r>
              <a:rPr sz="1600" spc="-45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600" spc="-40" dirty="0">
                <a:solidFill>
                  <a:srgbClr val="E4DFDF"/>
                </a:solidFill>
                <a:latin typeface="Roboto Lt"/>
                <a:cs typeface="Roboto Lt"/>
              </a:rPr>
              <a:t>Gradient-</a:t>
            </a:r>
            <a:r>
              <a:rPr sz="1600" dirty="0">
                <a:solidFill>
                  <a:srgbClr val="E4DFDF"/>
                </a:solidFill>
                <a:latin typeface="Roboto Lt"/>
                <a:cs typeface="Roboto Lt"/>
              </a:rPr>
              <a:t>weighted</a:t>
            </a:r>
            <a:r>
              <a:rPr sz="1600" spc="-35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600" dirty="0">
                <a:solidFill>
                  <a:srgbClr val="E4DFDF"/>
                </a:solidFill>
                <a:latin typeface="Roboto Lt"/>
                <a:cs typeface="Roboto Lt"/>
              </a:rPr>
              <a:t>Class</a:t>
            </a:r>
            <a:r>
              <a:rPr sz="1600" spc="-3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600" dirty="0">
                <a:solidFill>
                  <a:srgbClr val="E4DFDF"/>
                </a:solidFill>
                <a:latin typeface="Roboto Lt"/>
                <a:cs typeface="Roboto Lt"/>
              </a:rPr>
              <a:t>Activation</a:t>
            </a:r>
            <a:r>
              <a:rPr sz="1600" spc="-35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600" dirty="0">
                <a:solidFill>
                  <a:srgbClr val="E4DFDF"/>
                </a:solidFill>
                <a:latin typeface="Roboto Lt"/>
                <a:cs typeface="Roboto Lt"/>
              </a:rPr>
              <a:t>Mapping</a:t>
            </a:r>
            <a:r>
              <a:rPr sz="1600" spc="-3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600" spc="-10" dirty="0">
                <a:solidFill>
                  <a:srgbClr val="E4DFDF"/>
                </a:solidFill>
                <a:latin typeface="Roboto Lt"/>
                <a:cs typeface="Roboto Lt"/>
              </a:rPr>
              <a:t>(Grad- </a:t>
            </a:r>
            <a:r>
              <a:rPr sz="1600" dirty="0">
                <a:solidFill>
                  <a:srgbClr val="E4DFDF"/>
                </a:solidFill>
                <a:latin typeface="Roboto Lt"/>
                <a:cs typeface="Roboto Lt"/>
              </a:rPr>
              <a:t>CAM),</a:t>
            </a:r>
            <a:r>
              <a:rPr sz="1600" spc="-2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600" dirty="0">
                <a:solidFill>
                  <a:srgbClr val="E4DFDF"/>
                </a:solidFill>
                <a:latin typeface="Roboto Lt"/>
                <a:cs typeface="Roboto Lt"/>
              </a:rPr>
              <a:t>a</a:t>
            </a:r>
            <a:r>
              <a:rPr sz="1600" spc="-25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600" dirty="0">
                <a:solidFill>
                  <a:srgbClr val="E4DFDF"/>
                </a:solidFill>
                <a:latin typeface="Roboto Lt"/>
                <a:cs typeface="Roboto Lt"/>
              </a:rPr>
              <a:t>powerful</a:t>
            </a:r>
            <a:r>
              <a:rPr sz="1600" spc="-4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600" dirty="0">
                <a:solidFill>
                  <a:srgbClr val="E4DFDF"/>
                </a:solidFill>
                <a:latin typeface="Roboto Lt"/>
                <a:cs typeface="Roboto Lt"/>
              </a:rPr>
              <a:t>technique</a:t>
            </a:r>
            <a:r>
              <a:rPr sz="1600" spc="-35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600" dirty="0">
                <a:solidFill>
                  <a:srgbClr val="E4DFDF"/>
                </a:solidFill>
                <a:latin typeface="Roboto Lt"/>
                <a:cs typeface="Roboto Lt"/>
              </a:rPr>
              <a:t>that</a:t>
            </a:r>
            <a:r>
              <a:rPr sz="1600" spc="-45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600" spc="-10" dirty="0">
                <a:solidFill>
                  <a:srgbClr val="E4DFDF"/>
                </a:solidFill>
                <a:latin typeface="Roboto Lt"/>
                <a:cs typeface="Roboto Lt"/>
              </a:rPr>
              <a:t>highlights</a:t>
            </a:r>
            <a:r>
              <a:rPr sz="1600" spc="-35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600" dirty="0">
                <a:solidFill>
                  <a:srgbClr val="E4DFDF"/>
                </a:solidFill>
                <a:latin typeface="Roboto Lt"/>
                <a:cs typeface="Roboto Lt"/>
              </a:rPr>
              <a:t>which</a:t>
            </a:r>
            <a:r>
              <a:rPr sz="1600" spc="-35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600" dirty="0">
                <a:solidFill>
                  <a:srgbClr val="E4DFDF"/>
                </a:solidFill>
                <a:latin typeface="Roboto Lt"/>
                <a:cs typeface="Roboto Lt"/>
              </a:rPr>
              <a:t>image</a:t>
            </a:r>
            <a:r>
              <a:rPr sz="1600" spc="-2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600" spc="-10" dirty="0">
                <a:solidFill>
                  <a:srgbClr val="E4DFDF"/>
                </a:solidFill>
                <a:latin typeface="Roboto Lt"/>
                <a:cs typeface="Roboto Lt"/>
              </a:rPr>
              <a:t>regions </a:t>
            </a:r>
            <a:r>
              <a:rPr sz="1600" dirty="0">
                <a:solidFill>
                  <a:srgbClr val="E4DFDF"/>
                </a:solidFill>
                <a:latin typeface="Roboto Lt"/>
                <a:cs typeface="Roboto Lt"/>
              </a:rPr>
              <a:t>most</a:t>
            </a:r>
            <a:r>
              <a:rPr sz="1600" spc="-10" dirty="0">
                <a:solidFill>
                  <a:srgbClr val="E4DFDF"/>
                </a:solidFill>
                <a:latin typeface="Roboto Lt"/>
                <a:cs typeface="Roboto Lt"/>
              </a:rPr>
              <a:t> influence</a:t>
            </a:r>
            <a:r>
              <a:rPr sz="1600" spc="-15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600" spc="-10" dirty="0">
                <a:solidFill>
                  <a:srgbClr val="E4DFDF"/>
                </a:solidFill>
                <a:latin typeface="Roboto Lt"/>
                <a:cs typeface="Roboto Lt"/>
              </a:rPr>
              <a:t>predictions.</a:t>
            </a:r>
            <a:endParaRPr sz="1600">
              <a:latin typeface="Roboto Lt"/>
              <a:cs typeface="Roboto L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702297" y="3465957"/>
            <a:ext cx="6615430" cy="21380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F1F1F3"/>
                </a:solidFill>
                <a:latin typeface="Lucida Sans Unicode"/>
                <a:cs typeface="Lucida Sans Unicode"/>
              </a:rPr>
              <a:t>Critical</a:t>
            </a:r>
            <a:r>
              <a:rPr sz="2000" spc="15" dirty="0">
                <a:solidFill>
                  <a:srgbClr val="F1F1F3"/>
                </a:solidFill>
                <a:latin typeface="Lucida Sans Unicode"/>
                <a:cs typeface="Lucida Sans Unicode"/>
              </a:rPr>
              <a:t> </a:t>
            </a:r>
            <a:r>
              <a:rPr sz="2000" spc="-10" dirty="0">
                <a:solidFill>
                  <a:srgbClr val="F1F1F3"/>
                </a:solidFill>
                <a:latin typeface="Lucida Sans Unicode"/>
                <a:cs typeface="Lucida Sans Unicode"/>
              </a:rPr>
              <a:t>Observations</a:t>
            </a:r>
            <a:endParaRPr sz="2000">
              <a:latin typeface="Lucida Sans Unicode"/>
              <a:cs typeface="Lucida Sans Unicode"/>
            </a:endParaRPr>
          </a:p>
          <a:p>
            <a:pPr marL="355600" indent="-342900">
              <a:lnSpc>
                <a:spcPct val="100000"/>
              </a:lnSpc>
              <a:spcBef>
                <a:spcPts val="2390"/>
              </a:spcBef>
              <a:buChar char="•"/>
              <a:tabLst>
                <a:tab pos="355600" algn="l"/>
              </a:tabLst>
            </a:pPr>
            <a:r>
              <a:rPr sz="1600" dirty="0">
                <a:solidFill>
                  <a:srgbClr val="E4DFDF"/>
                </a:solidFill>
                <a:latin typeface="Roboto Lt"/>
                <a:cs typeface="Roboto Lt"/>
              </a:rPr>
              <a:t>Model</a:t>
            </a:r>
            <a:r>
              <a:rPr sz="1600" spc="-45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600" dirty="0">
                <a:solidFill>
                  <a:srgbClr val="E4DFDF"/>
                </a:solidFill>
                <a:latin typeface="Roboto Lt"/>
                <a:cs typeface="Roboto Lt"/>
              </a:rPr>
              <a:t>attention</a:t>
            </a:r>
            <a:r>
              <a:rPr sz="1600" spc="-6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600" dirty="0">
                <a:solidFill>
                  <a:srgbClr val="E4DFDF"/>
                </a:solidFill>
                <a:latin typeface="Roboto Lt"/>
                <a:cs typeface="Roboto Lt"/>
              </a:rPr>
              <a:t>concentrated</a:t>
            </a:r>
            <a:r>
              <a:rPr sz="1600" spc="-6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600" dirty="0">
                <a:solidFill>
                  <a:srgbClr val="E4DFDF"/>
                </a:solidFill>
                <a:latin typeface="Roboto Lt"/>
                <a:cs typeface="Roboto Lt"/>
              </a:rPr>
              <a:t>on</a:t>
            </a:r>
            <a:r>
              <a:rPr sz="1600" spc="-5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600" dirty="0">
                <a:solidFill>
                  <a:srgbClr val="E4DFDF"/>
                </a:solidFill>
                <a:latin typeface="Roboto Lt"/>
                <a:cs typeface="Roboto Lt"/>
              </a:rPr>
              <a:t>background</a:t>
            </a:r>
            <a:r>
              <a:rPr sz="1600" spc="-45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600" dirty="0">
                <a:solidFill>
                  <a:srgbClr val="E4DFDF"/>
                </a:solidFill>
                <a:latin typeface="Roboto Lt"/>
                <a:cs typeface="Roboto Lt"/>
              </a:rPr>
              <a:t>areas</a:t>
            </a:r>
            <a:r>
              <a:rPr sz="1600" spc="-35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600" dirty="0">
                <a:solidFill>
                  <a:srgbClr val="E4DFDF"/>
                </a:solidFill>
                <a:latin typeface="Roboto Lt"/>
                <a:cs typeface="Roboto Lt"/>
              </a:rPr>
              <a:t>and</a:t>
            </a:r>
            <a:r>
              <a:rPr sz="1600" spc="-4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600" dirty="0">
                <a:solidFill>
                  <a:srgbClr val="E4DFDF"/>
                </a:solidFill>
                <a:latin typeface="Roboto Lt"/>
                <a:cs typeface="Roboto Lt"/>
              </a:rPr>
              <a:t>noise</a:t>
            </a:r>
            <a:r>
              <a:rPr sz="1600" spc="-45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600" spc="-10" dirty="0">
                <a:solidFill>
                  <a:srgbClr val="E4DFDF"/>
                </a:solidFill>
                <a:latin typeface="Roboto Lt"/>
                <a:cs typeface="Roboto Lt"/>
              </a:rPr>
              <a:t>patterns</a:t>
            </a:r>
            <a:endParaRPr sz="1600">
              <a:latin typeface="Roboto Lt"/>
              <a:cs typeface="Roboto Lt"/>
            </a:endParaRPr>
          </a:p>
          <a:p>
            <a:pPr>
              <a:lnSpc>
                <a:spcPct val="100000"/>
              </a:lnSpc>
              <a:spcBef>
                <a:spcPts val="1025"/>
              </a:spcBef>
              <a:buClr>
                <a:srgbClr val="E4DFDF"/>
              </a:buClr>
              <a:buFont typeface="Roboto Lt"/>
              <a:buChar char="•"/>
            </a:pPr>
            <a:endParaRPr sz="1600">
              <a:latin typeface="Roboto Lt"/>
              <a:cs typeface="Roboto Lt"/>
            </a:endParaRPr>
          </a:p>
          <a:p>
            <a:pPr marL="355600" indent="-342900">
              <a:lnSpc>
                <a:spcPct val="100000"/>
              </a:lnSpc>
              <a:buChar char="•"/>
              <a:tabLst>
                <a:tab pos="355600" algn="l"/>
              </a:tabLst>
            </a:pPr>
            <a:r>
              <a:rPr sz="1600" dirty="0">
                <a:solidFill>
                  <a:srgbClr val="E4DFDF"/>
                </a:solidFill>
                <a:latin typeface="Roboto Lt"/>
                <a:cs typeface="Roboto Lt"/>
              </a:rPr>
              <a:t>Minimal</a:t>
            </a:r>
            <a:r>
              <a:rPr sz="1600" spc="-5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600" dirty="0">
                <a:solidFill>
                  <a:srgbClr val="E4DFDF"/>
                </a:solidFill>
                <a:latin typeface="Roboto Lt"/>
                <a:cs typeface="Roboto Lt"/>
              </a:rPr>
              <a:t>focus</a:t>
            </a:r>
            <a:r>
              <a:rPr sz="1600" spc="-4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600" dirty="0">
                <a:solidFill>
                  <a:srgbClr val="E4DFDF"/>
                </a:solidFill>
                <a:latin typeface="Roboto Lt"/>
                <a:cs typeface="Roboto Lt"/>
              </a:rPr>
              <a:t>on</a:t>
            </a:r>
            <a:r>
              <a:rPr sz="1600" spc="-2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600" dirty="0">
                <a:solidFill>
                  <a:srgbClr val="E4DFDF"/>
                </a:solidFill>
                <a:latin typeface="Roboto Lt"/>
                <a:cs typeface="Roboto Lt"/>
              </a:rPr>
              <a:t>text</a:t>
            </a:r>
            <a:r>
              <a:rPr sz="1600" spc="-4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600" dirty="0">
                <a:solidFill>
                  <a:srgbClr val="E4DFDF"/>
                </a:solidFill>
                <a:latin typeface="Roboto Lt"/>
                <a:cs typeface="Roboto Lt"/>
              </a:rPr>
              <a:t>content</a:t>
            </a:r>
            <a:r>
              <a:rPr sz="1600" spc="-45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600" spc="-10" dirty="0">
                <a:solidFill>
                  <a:srgbClr val="E4DFDF"/>
                </a:solidFill>
                <a:latin typeface="Roboto Lt"/>
                <a:cs typeface="Roboto Lt"/>
              </a:rPr>
              <a:t>itself</a:t>
            </a:r>
            <a:endParaRPr sz="1600">
              <a:latin typeface="Roboto Lt"/>
              <a:cs typeface="Roboto Lt"/>
            </a:endParaRPr>
          </a:p>
          <a:p>
            <a:pPr>
              <a:lnSpc>
                <a:spcPct val="100000"/>
              </a:lnSpc>
              <a:spcBef>
                <a:spcPts val="1210"/>
              </a:spcBef>
              <a:buClr>
                <a:srgbClr val="E4DFDF"/>
              </a:buClr>
              <a:buFont typeface="Roboto Lt"/>
              <a:buChar char="•"/>
            </a:pPr>
            <a:endParaRPr sz="1600">
              <a:latin typeface="Roboto Lt"/>
              <a:cs typeface="Roboto Lt"/>
            </a:endParaRPr>
          </a:p>
          <a:p>
            <a:pPr marL="355600" indent="-342900">
              <a:lnSpc>
                <a:spcPct val="100000"/>
              </a:lnSpc>
              <a:buChar char="•"/>
              <a:tabLst>
                <a:tab pos="355600" algn="l"/>
              </a:tabLst>
            </a:pPr>
            <a:r>
              <a:rPr sz="1600" dirty="0">
                <a:solidFill>
                  <a:srgbClr val="E4DFDF"/>
                </a:solidFill>
                <a:latin typeface="Roboto Lt"/>
                <a:cs typeface="Roboto Lt"/>
              </a:rPr>
              <a:t>Strong</a:t>
            </a:r>
            <a:r>
              <a:rPr sz="1600" spc="-55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600" dirty="0">
                <a:solidFill>
                  <a:srgbClr val="E4DFDF"/>
                </a:solidFill>
                <a:latin typeface="Roboto Lt"/>
                <a:cs typeface="Roboto Lt"/>
              </a:rPr>
              <a:t>activation</a:t>
            </a:r>
            <a:r>
              <a:rPr sz="1600" spc="-35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600" dirty="0">
                <a:solidFill>
                  <a:srgbClr val="E4DFDF"/>
                </a:solidFill>
                <a:latin typeface="Roboto Lt"/>
                <a:cs typeface="Roboto Lt"/>
              </a:rPr>
              <a:t>in</a:t>
            </a:r>
            <a:r>
              <a:rPr sz="1600" spc="-6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600" dirty="0">
                <a:solidFill>
                  <a:srgbClr val="E4DFDF"/>
                </a:solidFill>
                <a:latin typeface="Roboto Lt"/>
                <a:cs typeface="Roboto Lt"/>
              </a:rPr>
              <a:t>margin</a:t>
            </a:r>
            <a:r>
              <a:rPr sz="1600" spc="-35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600" dirty="0">
                <a:solidFill>
                  <a:srgbClr val="E4DFDF"/>
                </a:solidFill>
                <a:latin typeface="Roboto Lt"/>
                <a:cs typeface="Roboto Lt"/>
              </a:rPr>
              <a:t>regions</a:t>
            </a:r>
            <a:r>
              <a:rPr sz="1600" spc="-5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600" dirty="0">
                <a:solidFill>
                  <a:srgbClr val="E4DFDF"/>
                </a:solidFill>
                <a:latin typeface="Roboto Lt"/>
                <a:cs typeface="Roboto Lt"/>
              </a:rPr>
              <a:t>and</a:t>
            </a:r>
            <a:r>
              <a:rPr sz="1600" spc="-45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600" dirty="0">
                <a:solidFill>
                  <a:srgbClr val="E4DFDF"/>
                </a:solidFill>
                <a:latin typeface="Roboto Lt"/>
                <a:cs typeface="Roboto Lt"/>
              </a:rPr>
              <a:t>uniform</a:t>
            </a:r>
            <a:r>
              <a:rPr sz="1600" spc="-5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600" spc="-10" dirty="0">
                <a:solidFill>
                  <a:srgbClr val="E4DFDF"/>
                </a:solidFill>
                <a:latin typeface="Roboto Lt"/>
                <a:cs typeface="Roboto Lt"/>
              </a:rPr>
              <a:t>backgrounds</a:t>
            </a:r>
            <a:endParaRPr sz="1600">
              <a:latin typeface="Roboto Lt"/>
              <a:cs typeface="Roboto L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98219" y="6890410"/>
            <a:ext cx="9295130" cy="5346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3600"/>
              </a:lnSpc>
              <a:spcBef>
                <a:spcPts val="100"/>
              </a:spcBef>
            </a:pPr>
            <a:r>
              <a:rPr sz="1250" dirty="0">
                <a:solidFill>
                  <a:srgbClr val="E4DFDF"/>
                </a:solidFill>
                <a:latin typeface="Roboto Lt"/>
                <a:cs typeface="Roboto Lt"/>
              </a:rPr>
              <a:t>These</a:t>
            </a:r>
            <a:r>
              <a:rPr sz="1250" spc="-3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250" spc="-10" dirty="0">
                <a:solidFill>
                  <a:srgbClr val="E4DFDF"/>
                </a:solidFill>
                <a:latin typeface="Roboto Lt"/>
                <a:cs typeface="Roboto Lt"/>
              </a:rPr>
              <a:t>visualizations</a:t>
            </a:r>
            <a:r>
              <a:rPr sz="1250" spc="-2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250" dirty="0">
                <a:solidFill>
                  <a:srgbClr val="E4DFDF"/>
                </a:solidFill>
                <a:latin typeface="Roboto Lt"/>
                <a:cs typeface="Roboto Lt"/>
              </a:rPr>
              <a:t>confirm</a:t>
            </a:r>
            <a:r>
              <a:rPr sz="1250" spc="-2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250" dirty="0">
                <a:solidFill>
                  <a:srgbClr val="E4DFDF"/>
                </a:solidFill>
                <a:latin typeface="Roboto Lt"/>
                <a:cs typeface="Roboto Lt"/>
              </a:rPr>
              <a:t>our</a:t>
            </a:r>
            <a:r>
              <a:rPr sz="1250" spc="-25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250" spc="-10" dirty="0">
                <a:solidFill>
                  <a:srgbClr val="E4DFDF"/>
                </a:solidFill>
                <a:latin typeface="Roboto Lt"/>
                <a:cs typeface="Roboto Lt"/>
              </a:rPr>
              <a:t>hypothesis:</a:t>
            </a:r>
            <a:r>
              <a:rPr sz="1250" spc="-15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250" dirty="0">
                <a:solidFill>
                  <a:srgbClr val="E4DFDF"/>
                </a:solidFill>
                <a:latin typeface="Roboto Lt"/>
                <a:cs typeface="Roboto Lt"/>
              </a:rPr>
              <a:t>the</a:t>
            </a:r>
            <a:r>
              <a:rPr sz="1250" spc="-3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250" dirty="0">
                <a:solidFill>
                  <a:srgbClr val="E4DFDF"/>
                </a:solidFill>
                <a:latin typeface="Roboto Lt"/>
                <a:cs typeface="Roboto Lt"/>
              </a:rPr>
              <a:t>model</a:t>
            </a:r>
            <a:r>
              <a:rPr sz="1250" spc="-3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250" dirty="0">
                <a:solidFill>
                  <a:srgbClr val="E4DFDF"/>
                </a:solidFill>
                <a:latin typeface="Roboto Lt"/>
                <a:cs typeface="Roboto Lt"/>
              </a:rPr>
              <a:t>successfully</a:t>
            </a:r>
            <a:r>
              <a:rPr sz="1250" spc="-15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250" dirty="0">
                <a:solidFill>
                  <a:srgbClr val="E4DFDF"/>
                </a:solidFill>
                <a:latin typeface="Roboto Lt"/>
                <a:cs typeface="Roboto Lt"/>
              </a:rPr>
              <a:t>learns</a:t>
            </a:r>
            <a:r>
              <a:rPr sz="1250" spc="-30" dirty="0">
                <a:solidFill>
                  <a:srgbClr val="E4DFDF"/>
                </a:solidFill>
                <a:latin typeface="Roboto Lt"/>
                <a:cs typeface="Roboto Lt"/>
              </a:rPr>
              <a:t> scanner-</a:t>
            </a:r>
            <a:r>
              <a:rPr sz="1250" dirty="0">
                <a:solidFill>
                  <a:srgbClr val="E4DFDF"/>
                </a:solidFill>
                <a:latin typeface="Roboto Lt"/>
                <a:cs typeface="Roboto Lt"/>
              </a:rPr>
              <a:t>specific</a:t>
            </a:r>
            <a:r>
              <a:rPr sz="1250" spc="-10" dirty="0">
                <a:solidFill>
                  <a:srgbClr val="E4DFDF"/>
                </a:solidFill>
                <a:latin typeface="Roboto Lt"/>
                <a:cs typeface="Roboto Lt"/>
              </a:rPr>
              <a:t> artifacts—</a:t>
            </a:r>
            <a:r>
              <a:rPr sz="1250" dirty="0">
                <a:solidFill>
                  <a:srgbClr val="E4DFDF"/>
                </a:solidFill>
                <a:latin typeface="Roboto Lt"/>
                <a:cs typeface="Roboto Lt"/>
              </a:rPr>
              <a:t>the</a:t>
            </a:r>
            <a:r>
              <a:rPr sz="1250" spc="-1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250" dirty="0">
                <a:solidFill>
                  <a:srgbClr val="E4DFDF"/>
                </a:solidFill>
                <a:latin typeface="Roboto Lt"/>
                <a:cs typeface="Roboto Lt"/>
              </a:rPr>
              <a:t>subtle</a:t>
            </a:r>
            <a:r>
              <a:rPr sz="1250" spc="-3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250" dirty="0">
                <a:solidFill>
                  <a:srgbClr val="E4DFDF"/>
                </a:solidFill>
                <a:latin typeface="Roboto Lt"/>
                <a:cs typeface="Roboto Lt"/>
              </a:rPr>
              <a:t>noise</a:t>
            </a:r>
            <a:r>
              <a:rPr sz="1250" spc="-25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250" spc="-10" dirty="0">
                <a:solidFill>
                  <a:srgbClr val="E4DFDF"/>
                </a:solidFill>
                <a:latin typeface="Roboto Lt"/>
                <a:cs typeface="Roboto Lt"/>
              </a:rPr>
              <a:t>signatures</a:t>
            </a:r>
            <a:r>
              <a:rPr sz="1250" spc="-15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250" spc="-25" dirty="0">
                <a:solidFill>
                  <a:srgbClr val="E4DFDF"/>
                </a:solidFill>
                <a:latin typeface="Roboto Lt"/>
                <a:cs typeface="Roboto Lt"/>
              </a:rPr>
              <a:t>and </a:t>
            </a:r>
            <a:r>
              <a:rPr sz="1250" dirty="0">
                <a:solidFill>
                  <a:srgbClr val="E4DFDF"/>
                </a:solidFill>
                <a:latin typeface="Roboto Lt"/>
                <a:cs typeface="Roboto Lt"/>
              </a:rPr>
              <a:t>textural</a:t>
            </a:r>
            <a:r>
              <a:rPr sz="1250" spc="-3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250" dirty="0">
                <a:solidFill>
                  <a:srgbClr val="E4DFDF"/>
                </a:solidFill>
                <a:latin typeface="Roboto Lt"/>
                <a:cs typeface="Roboto Lt"/>
              </a:rPr>
              <a:t>patterns</a:t>
            </a:r>
            <a:r>
              <a:rPr sz="1250" spc="-4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250" dirty="0">
                <a:solidFill>
                  <a:srgbClr val="E4DFDF"/>
                </a:solidFill>
                <a:latin typeface="Roboto Lt"/>
                <a:cs typeface="Roboto Lt"/>
              </a:rPr>
              <a:t>each</a:t>
            </a:r>
            <a:r>
              <a:rPr sz="1250" spc="-4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250" dirty="0">
                <a:solidFill>
                  <a:srgbClr val="E4DFDF"/>
                </a:solidFill>
                <a:latin typeface="Roboto Lt"/>
                <a:cs typeface="Roboto Lt"/>
              </a:rPr>
              <a:t>device</a:t>
            </a:r>
            <a:r>
              <a:rPr sz="1250" spc="-4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250" spc="-25" dirty="0">
                <a:solidFill>
                  <a:srgbClr val="E4DFDF"/>
                </a:solidFill>
                <a:latin typeface="Roboto Lt"/>
                <a:cs typeface="Roboto Lt"/>
              </a:rPr>
              <a:t>imprints—</a:t>
            </a:r>
            <a:r>
              <a:rPr sz="1250" dirty="0">
                <a:solidFill>
                  <a:srgbClr val="E4DFDF"/>
                </a:solidFill>
                <a:latin typeface="Roboto Lt"/>
                <a:cs typeface="Roboto Lt"/>
              </a:rPr>
              <a:t>rather</a:t>
            </a:r>
            <a:r>
              <a:rPr sz="1250" spc="-15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250" dirty="0">
                <a:solidFill>
                  <a:srgbClr val="E4DFDF"/>
                </a:solidFill>
                <a:latin typeface="Roboto Lt"/>
                <a:cs typeface="Roboto Lt"/>
              </a:rPr>
              <a:t>than</a:t>
            </a:r>
            <a:r>
              <a:rPr sz="1250" spc="-4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250" dirty="0">
                <a:solidFill>
                  <a:srgbClr val="E4DFDF"/>
                </a:solidFill>
                <a:latin typeface="Roboto Lt"/>
                <a:cs typeface="Roboto Lt"/>
              </a:rPr>
              <a:t>document</a:t>
            </a:r>
            <a:r>
              <a:rPr sz="1250" spc="-35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250" dirty="0">
                <a:solidFill>
                  <a:srgbClr val="E4DFDF"/>
                </a:solidFill>
                <a:latin typeface="Roboto Lt"/>
                <a:cs typeface="Roboto Lt"/>
              </a:rPr>
              <a:t>content.</a:t>
            </a:r>
            <a:r>
              <a:rPr sz="1250" spc="-25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250" dirty="0">
                <a:solidFill>
                  <a:srgbClr val="E4DFDF"/>
                </a:solidFill>
                <a:latin typeface="Roboto Lt"/>
                <a:cs typeface="Roboto Lt"/>
              </a:rPr>
              <a:t>This</a:t>
            </a:r>
            <a:r>
              <a:rPr sz="1250" spc="-35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250" dirty="0">
                <a:solidFill>
                  <a:srgbClr val="E4DFDF"/>
                </a:solidFill>
                <a:latin typeface="Roboto Lt"/>
                <a:cs typeface="Roboto Lt"/>
              </a:rPr>
              <a:t>validates</a:t>
            </a:r>
            <a:r>
              <a:rPr sz="1250" spc="-25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250" dirty="0">
                <a:solidFill>
                  <a:srgbClr val="E4DFDF"/>
                </a:solidFill>
                <a:latin typeface="Roboto Lt"/>
                <a:cs typeface="Roboto Lt"/>
              </a:rPr>
              <a:t>the</a:t>
            </a:r>
            <a:r>
              <a:rPr sz="1250" spc="-4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250" dirty="0">
                <a:solidFill>
                  <a:srgbClr val="E4DFDF"/>
                </a:solidFill>
                <a:latin typeface="Roboto Lt"/>
                <a:cs typeface="Roboto Lt"/>
              </a:rPr>
              <a:t>forensic</a:t>
            </a:r>
            <a:r>
              <a:rPr sz="1250" spc="-25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250" dirty="0">
                <a:solidFill>
                  <a:srgbClr val="E4DFDF"/>
                </a:solidFill>
                <a:latin typeface="Roboto Lt"/>
                <a:cs typeface="Roboto Lt"/>
              </a:rPr>
              <a:t>soundness</a:t>
            </a:r>
            <a:r>
              <a:rPr sz="1250" spc="-25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250" dirty="0">
                <a:solidFill>
                  <a:srgbClr val="E4DFDF"/>
                </a:solidFill>
                <a:latin typeface="Roboto Lt"/>
                <a:cs typeface="Roboto Lt"/>
              </a:rPr>
              <a:t>of</a:t>
            </a:r>
            <a:r>
              <a:rPr sz="1250" spc="-45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250" dirty="0">
                <a:solidFill>
                  <a:srgbClr val="E4DFDF"/>
                </a:solidFill>
                <a:latin typeface="Roboto Lt"/>
                <a:cs typeface="Roboto Lt"/>
              </a:rPr>
              <a:t>our</a:t>
            </a:r>
            <a:r>
              <a:rPr sz="1250" spc="-4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250" spc="-10" dirty="0">
                <a:solidFill>
                  <a:srgbClr val="E4DFDF"/>
                </a:solidFill>
                <a:latin typeface="Roboto Lt"/>
                <a:cs typeface="Roboto Lt"/>
              </a:rPr>
              <a:t>approach.</a:t>
            </a:r>
            <a:endParaRPr sz="1250">
              <a:latin typeface="Roboto Lt"/>
              <a:cs typeface="Roboto L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416303" y="6755015"/>
            <a:ext cx="22860" cy="868044"/>
          </a:xfrm>
          <a:custGeom>
            <a:avLst/>
            <a:gdLst/>
            <a:ahLst/>
            <a:cxnLst/>
            <a:rect l="l" t="t" r="r" b="b"/>
            <a:pathLst>
              <a:path w="22859" h="868045">
                <a:moveTo>
                  <a:pt x="22859" y="0"/>
                </a:moveTo>
                <a:lnTo>
                  <a:pt x="0" y="0"/>
                </a:lnTo>
                <a:lnTo>
                  <a:pt x="0" y="867486"/>
                </a:lnTo>
                <a:lnTo>
                  <a:pt x="22859" y="867486"/>
                </a:lnTo>
                <a:lnTo>
                  <a:pt x="22859" y="0"/>
                </a:lnTo>
                <a:close/>
              </a:path>
            </a:pathLst>
          </a:custGeom>
          <a:solidFill>
            <a:srgbClr val="F1F1F3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1325479" y="4172839"/>
            <a:ext cx="3305175" cy="4057015"/>
            <a:chOff x="11325479" y="4172839"/>
            <a:chExt cx="3305175" cy="4057015"/>
          </a:xfrm>
        </p:grpSpPr>
        <p:sp>
          <p:nvSpPr>
            <p:cNvPr id="3" name="object 3">
              <a:hlinkClick r:id="rId2"/>
            </p:cNvPr>
            <p:cNvSpPr/>
            <p:nvPr/>
          </p:nvSpPr>
          <p:spPr>
            <a:xfrm>
              <a:off x="12669393" y="7726447"/>
              <a:ext cx="1851025" cy="467359"/>
            </a:xfrm>
            <a:custGeom>
              <a:avLst/>
              <a:gdLst/>
              <a:ahLst/>
              <a:cxnLst/>
              <a:rect l="l" t="t" r="r" b="b"/>
              <a:pathLst>
                <a:path w="1851025" h="467359">
                  <a:moveTo>
                    <a:pt x="1850770" y="0"/>
                  </a:moveTo>
                  <a:lnTo>
                    <a:pt x="0" y="0"/>
                  </a:lnTo>
                  <a:lnTo>
                    <a:pt x="0" y="467194"/>
                  </a:lnTo>
                  <a:lnTo>
                    <a:pt x="1850770" y="467194"/>
                  </a:lnTo>
                  <a:lnTo>
                    <a:pt x="185077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>
              <a:hlinkClick r:id="rId2"/>
            </p:cNvPr>
            <p:cNvSpPr/>
            <p:nvPr/>
          </p:nvSpPr>
          <p:spPr>
            <a:xfrm>
              <a:off x="12669393" y="7726447"/>
              <a:ext cx="1851025" cy="467359"/>
            </a:xfrm>
            <a:custGeom>
              <a:avLst/>
              <a:gdLst/>
              <a:ahLst/>
              <a:cxnLst/>
              <a:rect l="l" t="t" r="r" b="b"/>
              <a:pathLst>
                <a:path w="1851025" h="467359">
                  <a:moveTo>
                    <a:pt x="0" y="467194"/>
                  </a:moveTo>
                  <a:lnTo>
                    <a:pt x="1850770" y="467194"/>
                  </a:lnTo>
                  <a:lnTo>
                    <a:pt x="1850770" y="0"/>
                  </a:lnTo>
                  <a:lnTo>
                    <a:pt x="0" y="0"/>
                  </a:lnTo>
                  <a:lnTo>
                    <a:pt x="0" y="467194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325479" y="4172839"/>
              <a:ext cx="3304920" cy="4056757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276727" y="240233"/>
            <a:ext cx="681482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60" dirty="0"/>
              <a:t>Deployment</a:t>
            </a:r>
            <a:r>
              <a:rPr sz="3600" spc="-190" dirty="0"/>
              <a:t> </a:t>
            </a:r>
            <a:r>
              <a:rPr sz="3600" spc="75" dirty="0"/>
              <a:t>&amp;</a:t>
            </a:r>
            <a:r>
              <a:rPr sz="3600" spc="-150" dirty="0"/>
              <a:t> </a:t>
            </a:r>
            <a:r>
              <a:rPr sz="3600" dirty="0"/>
              <a:t>Key</a:t>
            </a:r>
            <a:r>
              <a:rPr sz="3600" spc="-150" dirty="0"/>
              <a:t> </a:t>
            </a:r>
            <a:r>
              <a:rPr sz="3600" spc="90" dirty="0"/>
              <a:t>Takeaways</a:t>
            </a:r>
            <a:endParaRPr sz="3600"/>
          </a:p>
        </p:txBody>
      </p: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Streamlit</a:t>
            </a:r>
            <a:r>
              <a:rPr spc="-35" dirty="0"/>
              <a:t> </a:t>
            </a:r>
            <a:r>
              <a:rPr spc="170" dirty="0"/>
              <a:t>Web</a:t>
            </a:r>
            <a:r>
              <a:rPr spc="-55" dirty="0"/>
              <a:t> </a:t>
            </a:r>
            <a:r>
              <a:rPr spc="40" dirty="0"/>
              <a:t>Interface</a:t>
            </a:r>
          </a:p>
          <a:p>
            <a:pPr marL="12700" marR="5080">
              <a:lnSpc>
                <a:spcPct val="83400"/>
              </a:lnSpc>
              <a:spcBef>
                <a:spcPts val="3290"/>
              </a:spcBef>
            </a:pPr>
            <a:r>
              <a:rPr sz="2000" dirty="0">
                <a:solidFill>
                  <a:srgbClr val="E4DFDF"/>
                </a:solidFill>
                <a:latin typeface="Roboto Lt"/>
                <a:cs typeface="Roboto Lt"/>
              </a:rPr>
              <a:t>Deployed</a:t>
            </a:r>
            <a:r>
              <a:rPr sz="2000" spc="-35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2000" dirty="0">
                <a:solidFill>
                  <a:srgbClr val="E4DFDF"/>
                </a:solidFill>
                <a:latin typeface="Roboto Lt"/>
                <a:cs typeface="Roboto Lt"/>
              </a:rPr>
              <a:t>an</a:t>
            </a:r>
            <a:r>
              <a:rPr sz="2000" spc="-45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2000" dirty="0">
                <a:solidFill>
                  <a:srgbClr val="E4DFDF"/>
                </a:solidFill>
                <a:latin typeface="Roboto Lt"/>
                <a:cs typeface="Roboto Lt"/>
              </a:rPr>
              <a:t>intuitive</a:t>
            </a:r>
            <a:r>
              <a:rPr sz="2000" spc="-7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2000" dirty="0">
                <a:solidFill>
                  <a:srgbClr val="E4DFDF"/>
                </a:solidFill>
                <a:latin typeface="Roboto Lt"/>
                <a:cs typeface="Roboto Lt"/>
              </a:rPr>
              <a:t>web</a:t>
            </a:r>
            <a:r>
              <a:rPr sz="2000" spc="-35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2000" dirty="0">
                <a:solidFill>
                  <a:srgbClr val="E4DFDF"/>
                </a:solidFill>
                <a:latin typeface="Roboto Lt"/>
                <a:cs typeface="Roboto Lt"/>
              </a:rPr>
              <a:t>application</a:t>
            </a:r>
            <a:r>
              <a:rPr sz="2000" spc="-65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2000" dirty="0">
                <a:solidFill>
                  <a:srgbClr val="E4DFDF"/>
                </a:solidFill>
                <a:latin typeface="Roboto Lt"/>
                <a:cs typeface="Roboto Lt"/>
              </a:rPr>
              <a:t>where</a:t>
            </a:r>
            <a:r>
              <a:rPr sz="2000" spc="-35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2000" dirty="0">
                <a:solidFill>
                  <a:srgbClr val="E4DFDF"/>
                </a:solidFill>
                <a:latin typeface="Roboto Lt"/>
                <a:cs typeface="Roboto Lt"/>
              </a:rPr>
              <a:t>users</a:t>
            </a:r>
            <a:r>
              <a:rPr sz="2000" spc="-35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2000" spc="-25" dirty="0">
                <a:solidFill>
                  <a:srgbClr val="E4DFDF"/>
                </a:solidFill>
                <a:latin typeface="Roboto Lt"/>
                <a:cs typeface="Roboto Lt"/>
              </a:rPr>
              <a:t>can </a:t>
            </a:r>
            <a:r>
              <a:rPr sz="2000" dirty="0">
                <a:solidFill>
                  <a:srgbClr val="E4DFDF"/>
                </a:solidFill>
                <a:latin typeface="Roboto Lt"/>
                <a:cs typeface="Roboto Lt"/>
              </a:rPr>
              <a:t>upload</a:t>
            </a:r>
            <a:r>
              <a:rPr sz="2000" spc="-45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2000" dirty="0">
                <a:solidFill>
                  <a:srgbClr val="E4DFDF"/>
                </a:solidFill>
                <a:latin typeface="Roboto Lt"/>
                <a:cs typeface="Roboto Lt"/>
              </a:rPr>
              <a:t>scanned</a:t>
            </a:r>
            <a:r>
              <a:rPr sz="2000" spc="-5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2000" dirty="0">
                <a:solidFill>
                  <a:srgbClr val="E4DFDF"/>
                </a:solidFill>
                <a:latin typeface="Roboto Lt"/>
                <a:cs typeface="Roboto Lt"/>
              </a:rPr>
              <a:t>documents</a:t>
            </a:r>
            <a:r>
              <a:rPr sz="2000" spc="-45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2000" dirty="0">
                <a:solidFill>
                  <a:srgbClr val="E4DFDF"/>
                </a:solidFill>
                <a:latin typeface="Roboto Lt"/>
                <a:cs typeface="Roboto Lt"/>
              </a:rPr>
              <a:t>and</a:t>
            </a:r>
            <a:r>
              <a:rPr sz="2000" spc="-5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2000" dirty="0">
                <a:solidFill>
                  <a:srgbClr val="E4DFDF"/>
                </a:solidFill>
                <a:latin typeface="Roboto Lt"/>
                <a:cs typeface="Roboto Lt"/>
              </a:rPr>
              <a:t>receive</a:t>
            </a:r>
            <a:r>
              <a:rPr sz="2000" spc="-1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2000" dirty="0">
                <a:solidFill>
                  <a:srgbClr val="E4DFDF"/>
                </a:solidFill>
                <a:latin typeface="Roboto Lt"/>
                <a:cs typeface="Roboto Lt"/>
              </a:rPr>
              <a:t>instant</a:t>
            </a:r>
            <a:r>
              <a:rPr sz="2000" spc="-7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2000" spc="-10" dirty="0">
                <a:solidFill>
                  <a:srgbClr val="E4DFDF"/>
                </a:solidFill>
                <a:latin typeface="Roboto Lt"/>
                <a:cs typeface="Roboto Lt"/>
              </a:rPr>
              <a:t>scanner </a:t>
            </a:r>
            <a:r>
              <a:rPr sz="2000" dirty="0">
                <a:solidFill>
                  <a:srgbClr val="E4DFDF"/>
                </a:solidFill>
                <a:latin typeface="Roboto Lt"/>
                <a:cs typeface="Roboto Lt"/>
              </a:rPr>
              <a:t>brand</a:t>
            </a:r>
            <a:r>
              <a:rPr sz="2000" spc="-2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2000" spc="-10" dirty="0">
                <a:solidFill>
                  <a:srgbClr val="E4DFDF"/>
                </a:solidFill>
                <a:latin typeface="Roboto Lt"/>
                <a:cs typeface="Roboto Lt"/>
              </a:rPr>
              <a:t>predictions.</a:t>
            </a:r>
            <a:r>
              <a:rPr sz="2000" spc="-6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2000" dirty="0">
                <a:solidFill>
                  <a:srgbClr val="E4DFDF"/>
                </a:solidFill>
                <a:latin typeface="Roboto Lt"/>
                <a:cs typeface="Roboto Lt"/>
              </a:rPr>
              <a:t>The</a:t>
            </a:r>
            <a:r>
              <a:rPr sz="2000" spc="-2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2000" dirty="0">
                <a:solidFill>
                  <a:srgbClr val="E4DFDF"/>
                </a:solidFill>
                <a:latin typeface="Roboto Lt"/>
                <a:cs typeface="Roboto Lt"/>
              </a:rPr>
              <a:t>interface</a:t>
            </a:r>
            <a:r>
              <a:rPr sz="2000" spc="-35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2000" dirty="0">
                <a:solidFill>
                  <a:srgbClr val="E4DFDF"/>
                </a:solidFill>
                <a:latin typeface="Roboto Lt"/>
                <a:cs typeface="Roboto Lt"/>
              </a:rPr>
              <a:t>maintains</a:t>
            </a:r>
            <a:r>
              <a:rPr sz="2000" spc="-6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2000" dirty="0">
                <a:solidFill>
                  <a:srgbClr val="E4DFDF"/>
                </a:solidFill>
                <a:latin typeface="Roboto Lt"/>
                <a:cs typeface="Roboto Lt"/>
              </a:rPr>
              <a:t>the</a:t>
            </a:r>
            <a:r>
              <a:rPr sz="2000" spc="-35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2000" spc="-10" dirty="0">
                <a:solidFill>
                  <a:srgbClr val="E4DFDF"/>
                </a:solidFill>
                <a:latin typeface="Roboto Lt"/>
                <a:cs typeface="Roboto Lt"/>
              </a:rPr>
              <a:t>exact </a:t>
            </a:r>
            <a:r>
              <a:rPr sz="2000" dirty="0">
                <a:solidFill>
                  <a:srgbClr val="E4DFDF"/>
                </a:solidFill>
                <a:latin typeface="Roboto Lt"/>
                <a:cs typeface="Roboto Lt"/>
              </a:rPr>
              <a:t>preprocessing</a:t>
            </a:r>
            <a:r>
              <a:rPr sz="2000" spc="-5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2000" dirty="0">
                <a:solidFill>
                  <a:srgbClr val="E4DFDF"/>
                </a:solidFill>
                <a:latin typeface="Roboto Lt"/>
                <a:cs typeface="Roboto Lt"/>
              </a:rPr>
              <a:t>pipeline</a:t>
            </a:r>
            <a:r>
              <a:rPr sz="2000" spc="-6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2000" dirty="0">
                <a:solidFill>
                  <a:srgbClr val="E4DFDF"/>
                </a:solidFill>
                <a:latin typeface="Roboto Lt"/>
                <a:cs typeface="Roboto Lt"/>
              </a:rPr>
              <a:t>used</a:t>
            </a:r>
            <a:r>
              <a:rPr sz="2000" spc="-45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2000" dirty="0">
                <a:solidFill>
                  <a:srgbClr val="E4DFDF"/>
                </a:solidFill>
                <a:latin typeface="Roboto Lt"/>
                <a:cs typeface="Roboto Lt"/>
              </a:rPr>
              <a:t>during</a:t>
            </a:r>
            <a:r>
              <a:rPr sz="2000" spc="-5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2000" dirty="0">
                <a:solidFill>
                  <a:srgbClr val="E4DFDF"/>
                </a:solidFill>
                <a:latin typeface="Roboto Lt"/>
                <a:cs typeface="Roboto Lt"/>
              </a:rPr>
              <a:t>training,</a:t>
            </a:r>
            <a:r>
              <a:rPr sz="2000" spc="-65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2000" spc="-10" dirty="0">
                <a:solidFill>
                  <a:srgbClr val="E4DFDF"/>
                </a:solidFill>
                <a:latin typeface="Roboto Lt"/>
                <a:cs typeface="Roboto Lt"/>
              </a:rPr>
              <a:t>ensuring </a:t>
            </a:r>
            <a:r>
              <a:rPr sz="2000" dirty="0">
                <a:solidFill>
                  <a:srgbClr val="E4DFDF"/>
                </a:solidFill>
                <a:latin typeface="Roboto Lt"/>
                <a:cs typeface="Roboto Lt"/>
              </a:rPr>
              <a:t>prediction</a:t>
            </a:r>
            <a:r>
              <a:rPr sz="2000" spc="-2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2000" spc="-10" dirty="0">
                <a:solidFill>
                  <a:srgbClr val="E4DFDF"/>
                </a:solidFill>
                <a:latin typeface="Roboto Lt"/>
                <a:cs typeface="Roboto Lt"/>
              </a:rPr>
              <a:t>consistency.</a:t>
            </a:r>
            <a:endParaRPr sz="2000">
              <a:latin typeface="Roboto Lt"/>
              <a:cs typeface="Roboto L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295258" y="1397635"/>
            <a:ext cx="347281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solidFill>
                  <a:srgbClr val="F1F1F3"/>
                </a:solidFill>
                <a:latin typeface="Lucida Sans Unicode"/>
                <a:cs typeface="Lucida Sans Unicode"/>
              </a:rPr>
              <a:t>Project</a:t>
            </a:r>
            <a:r>
              <a:rPr sz="2800" spc="-25" dirty="0">
                <a:solidFill>
                  <a:srgbClr val="F1F1F3"/>
                </a:solidFill>
                <a:latin typeface="Lucida Sans Unicode"/>
                <a:cs typeface="Lucida Sans Unicode"/>
              </a:rPr>
              <a:t> </a:t>
            </a:r>
            <a:r>
              <a:rPr sz="2800" spc="-10" dirty="0">
                <a:solidFill>
                  <a:srgbClr val="F1F1F3"/>
                </a:solidFill>
                <a:latin typeface="Lucida Sans Unicode"/>
                <a:cs typeface="Lucida Sans Unicode"/>
              </a:rPr>
              <a:t>Conclusions</a:t>
            </a:r>
            <a:endParaRPr sz="280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341232" y="2068237"/>
            <a:ext cx="3796665" cy="113919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425"/>
              </a:spcBef>
              <a:buChar char="•"/>
              <a:tabLst>
                <a:tab pos="354965" algn="l"/>
              </a:tabLst>
            </a:pPr>
            <a:r>
              <a:rPr sz="1400" spc="-10" dirty="0">
                <a:solidFill>
                  <a:srgbClr val="E4DFDF"/>
                </a:solidFill>
                <a:latin typeface="Roboto Lt"/>
                <a:cs typeface="Roboto Lt"/>
              </a:rPr>
              <a:t>SVM</a:t>
            </a:r>
            <a:r>
              <a:rPr sz="1400" spc="-45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400" dirty="0">
                <a:solidFill>
                  <a:srgbClr val="E4DFDF"/>
                </a:solidFill>
                <a:latin typeface="Roboto Lt"/>
                <a:cs typeface="Roboto Lt"/>
              </a:rPr>
              <a:t>+</a:t>
            </a:r>
            <a:r>
              <a:rPr sz="1400" spc="-3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400" spc="-20" dirty="0">
                <a:solidFill>
                  <a:srgbClr val="E4DFDF"/>
                </a:solidFill>
                <a:latin typeface="Roboto Lt"/>
                <a:cs typeface="Roboto Lt"/>
              </a:rPr>
              <a:t>LBP:</a:t>
            </a:r>
            <a:r>
              <a:rPr sz="1400" spc="-45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400" dirty="0">
                <a:solidFill>
                  <a:srgbClr val="E4DFDF"/>
                </a:solidFill>
                <a:latin typeface="Roboto Lt"/>
                <a:cs typeface="Roboto Lt"/>
              </a:rPr>
              <a:t>Optimal</a:t>
            </a:r>
            <a:r>
              <a:rPr sz="1400" spc="-15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400" dirty="0">
                <a:solidFill>
                  <a:srgbClr val="E4DFDF"/>
                </a:solidFill>
                <a:latin typeface="Roboto Lt"/>
                <a:cs typeface="Roboto Lt"/>
              </a:rPr>
              <a:t>for</a:t>
            </a:r>
            <a:r>
              <a:rPr sz="1400" spc="-1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400" spc="-40" dirty="0">
                <a:solidFill>
                  <a:srgbClr val="E4DFDF"/>
                </a:solidFill>
                <a:latin typeface="Roboto Lt"/>
                <a:cs typeface="Roboto Lt"/>
              </a:rPr>
              <a:t>single-</a:t>
            </a:r>
            <a:r>
              <a:rPr sz="1400" dirty="0">
                <a:solidFill>
                  <a:srgbClr val="E4DFDF"/>
                </a:solidFill>
                <a:latin typeface="Roboto Lt"/>
                <a:cs typeface="Roboto Lt"/>
              </a:rPr>
              <a:t>DPI</a:t>
            </a:r>
            <a:r>
              <a:rPr sz="1400" spc="-15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400" spc="-10" dirty="0">
                <a:solidFill>
                  <a:srgbClr val="E4DFDF"/>
                </a:solidFill>
                <a:latin typeface="Roboto Lt"/>
                <a:cs typeface="Roboto Lt"/>
              </a:rPr>
              <a:t>scenarios</a:t>
            </a:r>
            <a:endParaRPr sz="1400">
              <a:latin typeface="Roboto Lt"/>
              <a:cs typeface="Roboto Lt"/>
            </a:endParaRPr>
          </a:p>
          <a:p>
            <a:pPr marL="355600">
              <a:lnSpc>
                <a:spcPct val="100000"/>
              </a:lnSpc>
              <a:spcBef>
                <a:spcPts val="325"/>
              </a:spcBef>
            </a:pPr>
            <a:r>
              <a:rPr sz="1400" dirty="0">
                <a:solidFill>
                  <a:srgbClr val="E4DFDF"/>
                </a:solidFill>
                <a:latin typeface="Roboto Lt"/>
                <a:cs typeface="Roboto Lt"/>
              </a:rPr>
              <a:t>with</a:t>
            </a:r>
            <a:r>
              <a:rPr sz="1400" spc="-35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400" dirty="0">
                <a:solidFill>
                  <a:srgbClr val="E4DFDF"/>
                </a:solidFill>
                <a:latin typeface="Roboto Lt"/>
                <a:cs typeface="Roboto Lt"/>
              </a:rPr>
              <a:t>92%</a:t>
            </a:r>
            <a:r>
              <a:rPr sz="1400" spc="-5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400" spc="-10" dirty="0">
                <a:solidFill>
                  <a:srgbClr val="E4DFDF"/>
                </a:solidFill>
                <a:latin typeface="Roboto Lt"/>
                <a:cs typeface="Roboto Lt"/>
              </a:rPr>
              <a:t>accuracy</a:t>
            </a:r>
            <a:endParaRPr sz="1400">
              <a:latin typeface="Roboto Lt"/>
              <a:cs typeface="Roboto Lt"/>
            </a:endParaRPr>
          </a:p>
          <a:p>
            <a:pPr marL="355600" marR="22860" indent="-342900">
              <a:lnSpc>
                <a:spcPct val="119300"/>
              </a:lnSpc>
              <a:spcBef>
                <a:spcPts val="750"/>
              </a:spcBef>
              <a:buChar char="•"/>
              <a:tabLst>
                <a:tab pos="355600" algn="l"/>
              </a:tabLst>
            </a:pPr>
            <a:r>
              <a:rPr sz="1400" dirty="0">
                <a:solidFill>
                  <a:srgbClr val="E4DFDF"/>
                </a:solidFill>
                <a:latin typeface="Roboto Lt"/>
                <a:cs typeface="Roboto Lt"/>
              </a:rPr>
              <a:t>CNN</a:t>
            </a:r>
            <a:r>
              <a:rPr sz="1400" spc="-65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400" spc="-10" dirty="0">
                <a:solidFill>
                  <a:srgbClr val="E4DFDF"/>
                </a:solidFill>
                <a:latin typeface="Roboto Lt"/>
                <a:cs typeface="Roboto Lt"/>
              </a:rPr>
              <a:t>Models:</a:t>
            </a:r>
            <a:r>
              <a:rPr sz="1400" spc="-55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400" dirty="0">
                <a:solidFill>
                  <a:srgbClr val="E4DFDF"/>
                </a:solidFill>
                <a:latin typeface="Roboto Lt"/>
                <a:cs typeface="Roboto Lt"/>
              </a:rPr>
              <a:t>Superior</a:t>
            </a:r>
            <a:r>
              <a:rPr sz="1400" spc="-1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400" dirty="0">
                <a:solidFill>
                  <a:srgbClr val="E4DFDF"/>
                </a:solidFill>
                <a:latin typeface="Roboto Lt"/>
                <a:cs typeface="Roboto Lt"/>
              </a:rPr>
              <a:t>generalization</a:t>
            </a:r>
            <a:r>
              <a:rPr sz="1400" spc="-25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400" spc="-10" dirty="0">
                <a:solidFill>
                  <a:srgbClr val="E4DFDF"/>
                </a:solidFill>
                <a:latin typeface="Roboto Lt"/>
                <a:cs typeface="Roboto Lt"/>
              </a:rPr>
              <a:t>across </a:t>
            </a:r>
            <a:r>
              <a:rPr sz="1400" dirty="0">
                <a:solidFill>
                  <a:srgbClr val="E4DFDF"/>
                </a:solidFill>
                <a:latin typeface="Roboto Lt"/>
                <a:cs typeface="Roboto Lt"/>
              </a:rPr>
              <a:t>different</a:t>
            </a:r>
            <a:r>
              <a:rPr sz="1400" spc="-5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400" dirty="0">
                <a:solidFill>
                  <a:srgbClr val="E4DFDF"/>
                </a:solidFill>
                <a:latin typeface="Roboto Lt"/>
                <a:cs typeface="Roboto Lt"/>
              </a:rPr>
              <a:t>DPI</a:t>
            </a:r>
            <a:r>
              <a:rPr sz="1400" spc="-3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400" spc="-10" dirty="0">
                <a:solidFill>
                  <a:srgbClr val="E4DFDF"/>
                </a:solidFill>
                <a:latin typeface="Roboto Lt"/>
                <a:cs typeface="Roboto Lt"/>
              </a:rPr>
              <a:t>settings</a:t>
            </a:r>
            <a:endParaRPr sz="1400">
              <a:latin typeface="Roboto Lt"/>
              <a:cs typeface="Roboto L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341232" y="3402939"/>
            <a:ext cx="3234690" cy="5346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lnSpc>
                <a:spcPct val="119300"/>
              </a:lnSpc>
              <a:spcBef>
                <a:spcPts val="95"/>
              </a:spcBef>
              <a:buChar char="•"/>
              <a:tabLst>
                <a:tab pos="355600" algn="l"/>
              </a:tabLst>
            </a:pPr>
            <a:r>
              <a:rPr sz="1400" spc="-10" dirty="0">
                <a:solidFill>
                  <a:srgbClr val="E4DFDF"/>
                </a:solidFill>
                <a:latin typeface="Roboto Lt"/>
                <a:cs typeface="Roboto Lt"/>
              </a:rPr>
              <a:t>Transfer</a:t>
            </a:r>
            <a:r>
              <a:rPr sz="1400" spc="-55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400" spc="-20" dirty="0">
                <a:solidFill>
                  <a:srgbClr val="E4DFDF"/>
                </a:solidFill>
                <a:latin typeface="Roboto Lt"/>
                <a:cs typeface="Roboto Lt"/>
              </a:rPr>
              <a:t>Learning:</a:t>
            </a:r>
            <a:r>
              <a:rPr sz="1400" spc="-35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400" dirty="0">
                <a:solidFill>
                  <a:srgbClr val="E4DFDF"/>
                </a:solidFill>
                <a:latin typeface="Roboto Lt"/>
                <a:cs typeface="Roboto Lt"/>
              </a:rPr>
              <a:t>Essential</a:t>
            </a:r>
            <a:r>
              <a:rPr sz="1400" spc="-2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400" dirty="0">
                <a:solidFill>
                  <a:srgbClr val="E4DFDF"/>
                </a:solidFill>
                <a:latin typeface="Roboto Lt"/>
                <a:cs typeface="Roboto Lt"/>
              </a:rPr>
              <a:t>for</a:t>
            </a:r>
            <a:r>
              <a:rPr sz="1400" spc="-15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400" spc="-10" dirty="0">
                <a:solidFill>
                  <a:srgbClr val="E4DFDF"/>
                </a:solidFill>
                <a:latin typeface="Roboto Lt"/>
                <a:cs typeface="Roboto Lt"/>
              </a:rPr>
              <a:t>small </a:t>
            </a:r>
            <a:r>
              <a:rPr sz="1400" dirty="0">
                <a:solidFill>
                  <a:srgbClr val="E4DFDF"/>
                </a:solidFill>
                <a:latin typeface="Roboto Lt"/>
                <a:cs typeface="Roboto Lt"/>
              </a:rPr>
              <a:t>forensic</a:t>
            </a:r>
            <a:r>
              <a:rPr sz="1400" spc="-25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400" spc="-10" dirty="0">
                <a:solidFill>
                  <a:srgbClr val="E4DFDF"/>
                </a:solidFill>
                <a:latin typeface="Roboto Lt"/>
                <a:cs typeface="Roboto Lt"/>
              </a:rPr>
              <a:t>datasets</a:t>
            </a:r>
            <a:endParaRPr sz="1400">
              <a:latin typeface="Roboto Lt"/>
              <a:cs typeface="Roboto L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350772" y="4435602"/>
            <a:ext cx="4491990" cy="1685925"/>
            <a:chOff x="1350772" y="4435602"/>
            <a:chExt cx="4491990" cy="1685925"/>
          </a:xfrm>
        </p:grpSpPr>
        <p:sp>
          <p:nvSpPr>
            <p:cNvPr id="12" name="object 12"/>
            <p:cNvSpPr/>
            <p:nvPr/>
          </p:nvSpPr>
          <p:spPr>
            <a:xfrm>
              <a:off x="1354582" y="4439412"/>
              <a:ext cx="4484370" cy="1678305"/>
            </a:xfrm>
            <a:custGeom>
              <a:avLst/>
              <a:gdLst/>
              <a:ahLst/>
              <a:cxnLst/>
              <a:rect l="l" t="t" r="r" b="b"/>
              <a:pathLst>
                <a:path w="4484370" h="1678304">
                  <a:moveTo>
                    <a:pt x="4406519" y="0"/>
                  </a:moveTo>
                  <a:lnTo>
                    <a:pt x="77851" y="0"/>
                  </a:lnTo>
                  <a:lnTo>
                    <a:pt x="47523" y="6127"/>
                  </a:lnTo>
                  <a:lnTo>
                    <a:pt x="22780" y="22828"/>
                  </a:lnTo>
                  <a:lnTo>
                    <a:pt x="6109" y="47577"/>
                  </a:lnTo>
                  <a:lnTo>
                    <a:pt x="0" y="77850"/>
                  </a:lnTo>
                  <a:lnTo>
                    <a:pt x="0" y="1600327"/>
                  </a:lnTo>
                  <a:lnTo>
                    <a:pt x="6109" y="1630580"/>
                  </a:lnTo>
                  <a:lnTo>
                    <a:pt x="22780" y="1655286"/>
                  </a:lnTo>
                  <a:lnTo>
                    <a:pt x="47523" y="1671943"/>
                  </a:lnTo>
                  <a:lnTo>
                    <a:pt x="77851" y="1678051"/>
                  </a:lnTo>
                  <a:lnTo>
                    <a:pt x="4406519" y="1678051"/>
                  </a:lnTo>
                  <a:lnTo>
                    <a:pt x="4436846" y="1671943"/>
                  </a:lnTo>
                  <a:lnTo>
                    <a:pt x="4461589" y="1655286"/>
                  </a:lnTo>
                  <a:lnTo>
                    <a:pt x="4478260" y="1630580"/>
                  </a:lnTo>
                  <a:lnTo>
                    <a:pt x="4484370" y="1600327"/>
                  </a:lnTo>
                  <a:lnTo>
                    <a:pt x="4484370" y="77850"/>
                  </a:lnTo>
                  <a:lnTo>
                    <a:pt x="4478260" y="47577"/>
                  </a:lnTo>
                  <a:lnTo>
                    <a:pt x="4461589" y="22828"/>
                  </a:lnTo>
                  <a:lnTo>
                    <a:pt x="4436846" y="6127"/>
                  </a:lnTo>
                  <a:lnTo>
                    <a:pt x="4406519" y="0"/>
                  </a:lnTo>
                  <a:close/>
                </a:path>
              </a:pathLst>
            </a:custGeom>
            <a:solidFill>
              <a:srgbClr val="3C3C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354582" y="4439412"/>
              <a:ext cx="4484370" cy="1678305"/>
            </a:xfrm>
            <a:custGeom>
              <a:avLst/>
              <a:gdLst/>
              <a:ahLst/>
              <a:cxnLst/>
              <a:rect l="l" t="t" r="r" b="b"/>
              <a:pathLst>
                <a:path w="4484370" h="1678304">
                  <a:moveTo>
                    <a:pt x="0" y="77850"/>
                  </a:moveTo>
                  <a:lnTo>
                    <a:pt x="6109" y="47577"/>
                  </a:lnTo>
                  <a:lnTo>
                    <a:pt x="22780" y="22828"/>
                  </a:lnTo>
                  <a:lnTo>
                    <a:pt x="47523" y="6127"/>
                  </a:lnTo>
                  <a:lnTo>
                    <a:pt x="77851" y="0"/>
                  </a:lnTo>
                  <a:lnTo>
                    <a:pt x="4406519" y="0"/>
                  </a:lnTo>
                  <a:lnTo>
                    <a:pt x="4436846" y="6127"/>
                  </a:lnTo>
                  <a:lnTo>
                    <a:pt x="4461589" y="22828"/>
                  </a:lnTo>
                  <a:lnTo>
                    <a:pt x="4478260" y="47577"/>
                  </a:lnTo>
                  <a:lnTo>
                    <a:pt x="4484370" y="77850"/>
                  </a:lnTo>
                  <a:lnTo>
                    <a:pt x="4484370" y="1600327"/>
                  </a:lnTo>
                  <a:lnTo>
                    <a:pt x="4478260" y="1630580"/>
                  </a:lnTo>
                  <a:lnTo>
                    <a:pt x="4461589" y="1655286"/>
                  </a:lnTo>
                  <a:lnTo>
                    <a:pt x="4436846" y="1671943"/>
                  </a:lnTo>
                  <a:lnTo>
                    <a:pt x="4406519" y="1678051"/>
                  </a:lnTo>
                  <a:lnTo>
                    <a:pt x="77851" y="1678051"/>
                  </a:lnTo>
                  <a:lnTo>
                    <a:pt x="47523" y="1671943"/>
                  </a:lnTo>
                  <a:lnTo>
                    <a:pt x="22780" y="1655286"/>
                  </a:lnTo>
                  <a:lnTo>
                    <a:pt x="6109" y="1630580"/>
                  </a:lnTo>
                  <a:lnTo>
                    <a:pt x="0" y="1600327"/>
                  </a:lnTo>
                  <a:lnTo>
                    <a:pt x="0" y="77850"/>
                  </a:lnTo>
                  <a:close/>
                </a:path>
              </a:pathLst>
            </a:custGeom>
            <a:ln w="7620">
              <a:solidFill>
                <a:srgbClr val="5555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528952" y="4612335"/>
            <a:ext cx="4111625" cy="11696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45" dirty="0">
                <a:solidFill>
                  <a:srgbClr val="E4DFDF"/>
                </a:solidFill>
                <a:latin typeface="Lucida Sans Unicode"/>
                <a:cs typeface="Lucida Sans Unicode"/>
              </a:rPr>
              <a:t>Complete</a:t>
            </a:r>
            <a:r>
              <a:rPr sz="1500" spc="-45" dirty="0">
                <a:solidFill>
                  <a:srgbClr val="E4DFDF"/>
                </a:solidFill>
                <a:latin typeface="Lucida Sans Unicode"/>
                <a:cs typeface="Lucida Sans Unicode"/>
              </a:rPr>
              <a:t> </a:t>
            </a:r>
            <a:r>
              <a:rPr sz="1500" spc="-105" dirty="0">
                <a:solidFill>
                  <a:srgbClr val="E4DFDF"/>
                </a:solidFill>
                <a:latin typeface="Lucida Sans Unicode"/>
                <a:cs typeface="Lucida Sans Unicode"/>
              </a:rPr>
              <a:t>ML</a:t>
            </a:r>
            <a:r>
              <a:rPr sz="1500" spc="-40" dirty="0">
                <a:solidFill>
                  <a:srgbClr val="E4DFDF"/>
                </a:solidFill>
                <a:latin typeface="Lucida Sans Unicode"/>
                <a:cs typeface="Lucida Sans Unicode"/>
              </a:rPr>
              <a:t> </a:t>
            </a:r>
            <a:r>
              <a:rPr sz="1500" spc="-10" dirty="0">
                <a:solidFill>
                  <a:srgbClr val="E4DFDF"/>
                </a:solidFill>
                <a:latin typeface="Lucida Sans Unicode"/>
                <a:cs typeface="Lucida Sans Unicode"/>
              </a:rPr>
              <a:t>Pipeline</a:t>
            </a:r>
            <a:endParaRPr sz="1500">
              <a:latin typeface="Lucida Sans Unicode"/>
              <a:cs typeface="Lucida Sans Unicode"/>
            </a:endParaRPr>
          </a:p>
          <a:p>
            <a:pPr marL="12700" marR="5080">
              <a:lnSpc>
                <a:spcPct val="118900"/>
              </a:lnSpc>
              <a:spcBef>
                <a:spcPts val="1210"/>
              </a:spcBef>
            </a:pPr>
            <a:r>
              <a:rPr sz="1400" spc="-10" dirty="0">
                <a:solidFill>
                  <a:srgbClr val="E4DFDF"/>
                </a:solidFill>
                <a:latin typeface="Roboto Lt"/>
                <a:cs typeface="Roboto Lt"/>
              </a:rPr>
              <a:t>Demonstrated</a:t>
            </a:r>
            <a:r>
              <a:rPr sz="1400" spc="-45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400" spc="-50" dirty="0">
                <a:solidFill>
                  <a:srgbClr val="E4DFDF"/>
                </a:solidFill>
                <a:latin typeface="Roboto Lt"/>
                <a:cs typeface="Roboto Lt"/>
              </a:rPr>
              <a:t>end-</a:t>
            </a:r>
            <a:r>
              <a:rPr sz="1400" spc="-65" dirty="0">
                <a:solidFill>
                  <a:srgbClr val="E4DFDF"/>
                </a:solidFill>
                <a:latin typeface="Roboto Lt"/>
                <a:cs typeface="Roboto Lt"/>
              </a:rPr>
              <a:t>to-</a:t>
            </a:r>
            <a:r>
              <a:rPr sz="1400" dirty="0">
                <a:solidFill>
                  <a:srgbClr val="E4DFDF"/>
                </a:solidFill>
                <a:latin typeface="Roboto Lt"/>
                <a:cs typeface="Roboto Lt"/>
              </a:rPr>
              <a:t>end</a:t>
            </a:r>
            <a:r>
              <a:rPr sz="1400" spc="-3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400" dirty="0">
                <a:solidFill>
                  <a:srgbClr val="E4DFDF"/>
                </a:solidFill>
                <a:latin typeface="Roboto Lt"/>
                <a:cs typeface="Roboto Lt"/>
              </a:rPr>
              <a:t>forensic</a:t>
            </a:r>
            <a:r>
              <a:rPr sz="1400" spc="5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400" dirty="0">
                <a:solidFill>
                  <a:srgbClr val="E4DFDF"/>
                </a:solidFill>
                <a:latin typeface="Roboto Lt"/>
                <a:cs typeface="Roboto Lt"/>
              </a:rPr>
              <a:t>machine</a:t>
            </a:r>
            <a:r>
              <a:rPr sz="1400" spc="1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400" spc="-10" dirty="0">
                <a:solidFill>
                  <a:srgbClr val="E4DFDF"/>
                </a:solidFill>
                <a:latin typeface="Roboto Lt"/>
                <a:cs typeface="Roboto Lt"/>
              </a:rPr>
              <a:t>learning: </a:t>
            </a:r>
            <a:r>
              <a:rPr sz="1400" dirty="0">
                <a:solidFill>
                  <a:srgbClr val="E4DFDF"/>
                </a:solidFill>
                <a:latin typeface="Roboto Lt"/>
                <a:cs typeface="Roboto Lt"/>
              </a:rPr>
              <a:t>from</a:t>
            </a:r>
            <a:r>
              <a:rPr sz="1400" spc="-3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400" dirty="0">
                <a:solidFill>
                  <a:srgbClr val="E4DFDF"/>
                </a:solidFill>
                <a:latin typeface="Roboto Lt"/>
                <a:cs typeface="Roboto Lt"/>
              </a:rPr>
              <a:t>data</a:t>
            </a:r>
            <a:r>
              <a:rPr sz="1400" spc="-35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400" dirty="0">
                <a:solidFill>
                  <a:srgbClr val="E4DFDF"/>
                </a:solidFill>
                <a:latin typeface="Roboto Lt"/>
                <a:cs typeface="Roboto Lt"/>
              </a:rPr>
              <a:t>collection</a:t>
            </a:r>
            <a:r>
              <a:rPr sz="1400" spc="-2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400" dirty="0">
                <a:solidFill>
                  <a:srgbClr val="E4DFDF"/>
                </a:solidFill>
                <a:latin typeface="Roboto Lt"/>
                <a:cs typeface="Roboto Lt"/>
              </a:rPr>
              <a:t>through</a:t>
            </a:r>
            <a:r>
              <a:rPr sz="1400" spc="-1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400" dirty="0">
                <a:solidFill>
                  <a:srgbClr val="E4DFDF"/>
                </a:solidFill>
                <a:latin typeface="Roboto Lt"/>
                <a:cs typeface="Roboto Lt"/>
              </a:rPr>
              <a:t>model</a:t>
            </a:r>
            <a:r>
              <a:rPr sz="1400" spc="-45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400" dirty="0">
                <a:solidFill>
                  <a:srgbClr val="E4DFDF"/>
                </a:solidFill>
                <a:latin typeface="Roboto Lt"/>
                <a:cs typeface="Roboto Lt"/>
              </a:rPr>
              <a:t>explainability</a:t>
            </a:r>
            <a:r>
              <a:rPr sz="1400" spc="-35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400" spc="-25" dirty="0">
                <a:solidFill>
                  <a:srgbClr val="E4DFDF"/>
                </a:solidFill>
                <a:latin typeface="Roboto Lt"/>
                <a:cs typeface="Roboto Lt"/>
              </a:rPr>
              <a:t>to </a:t>
            </a:r>
            <a:r>
              <a:rPr sz="1400" dirty="0">
                <a:solidFill>
                  <a:srgbClr val="E4DFDF"/>
                </a:solidFill>
                <a:latin typeface="Roboto Lt"/>
                <a:cs typeface="Roboto Lt"/>
              </a:rPr>
              <a:t>production</a:t>
            </a:r>
            <a:r>
              <a:rPr sz="1400" spc="-10" dirty="0">
                <a:solidFill>
                  <a:srgbClr val="E4DFDF"/>
                </a:solidFill>
                <a:latin typeface="Roboto Lt"/>
                <a:cs typeface="Roboto Lt"/>
              </a:rPr>
              <a:t> deployment</a:t>
            </a:r>
            <a:endParaRPr sz="1400">
              <a:latin typeface="Roboto Lt"/>
              <a:cs typeface="Roboto Lt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694423" y="4435602"/>
            <a:ext cx="4210050" cy="1639570"/>
            <a:chOff x="6694423" y="4435602"/>
            <a:chExt cx="4210050" cy="1639570"/>
          </a:xfrm>
        </p:grpSpPr>
        <p:sp>
          <p:nvSpPr>
            <p:cNvPr id="16" name="object 16"/>
            <p:cNvSpPr/>
            <p:nvPr/>
          </p:nvSpPr>
          <p:spPr>
            <a:xfrm>
              <a:off x="6698233" y="4439412"/>
              <a:ext cx="4202430" cy="1631950"/>
            </a:xfrm>
            <a:custGeom>
              <a:avLst/>
              <a:gdLst/>
              <a:ahLst/>
              <a:cxnLst/>
              <a:rect l="l" t="t" r="r" b="b"/>
              <a:pathLst>
                <a:path w="4202430" h="1631950">
                  <a:moveTo>
                    <a:pt x="4126611" y="0"/>
                  </a:moveTo>
                  <a:lnTo>
                    <a:pt x="75692" y="0"/>
                  </a:lnTo>
                  <a:lnTo>
                    <a:pt x="46237" y="5951"/>
                  </a:lnTo>
                  <a:lnTo>
                    <a:pt x="22177" y="22177"/>
                  </a:lnTo>
                  <a:lnTo>
                    <a:pt x="5951" y="46237"/>
                  </a:lnTo>
                  <a:lnTo>
                    <a:pt x="0" y="75691"/>
                  </a:lnTo>
                  <a:lnTo>
                    <a:pt x="0" y="1556131"/>
                  </a:lnTo>
                  <a:lnTo>
                    <a:pt x="5951" y="1585585"/>
                  </a:lnTo>
                  <a:lnTo>
                    <a:pt x="22177" y="1609645"/>
                  </a:lnTo>
                  <a:lnTo>
                    <a:pt x="46237" y="1625871"/>
                  </a:lnTo>
                  <a:lnTo>
                    <a:pt x="75692" y="1631823"/>
                  </a:lnTo>
                  <a:lnTo>
                    <a:pt x="4126611" y="1631823"/>
                  </a:lnTo>
                  <a:lnTo>
                    <a:pt x="4156065" y="1625871"/>
                  </a:lnTo>
                  <a:lnTo>
                    <a:pt x="4180125" y="1609645"/>
                  </a:lnTo>
                  <a:lnTo>
                    <a:pt x="4196351" y="1585585"/>
                  </a:lnTo>
                  <a:lnTo>
                    <a:pt x="4202303" y="1556131"/>
                  </a:lnTo>
                  <a:lnTo>
                    <a:pt x="4202303" y="75691"/>
                  </a:lnTo>
                  <a:lnTo>
                    <a:pt x="4196351" y="46237"/>
                  </a:lnTo>
                  <a:lnTo>
                    <a:pt x="4180125" y="22177"/>
                  </a:lnTo>
                  <a:lnTo>
                    <a:pt x="4156065" y="5951"/>
                  </a:lnTo>
                  <a:lnTo>
                    <a:pt x="4126611" y="0"/>
                  </a:lnTo>
                  <a:close/>
                </a:path>
              </a:pathLst>
            </a:custGeom>
            <a:solidFill>
              <a:srgbClr val="3C3C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698233" y="4439412"/>
              <a:ext cx="4202430" cy="1631950"/>
            </a:xfrm>
            <a:custGeom>
              <a:avLst/>
              <a:gdLst/>
              <a:ahLst/>
              <a:cxnLst/>
              <a:rect l="l" t="t" r="r" b="b"/>
              <a:pathLst>
                <a:path w="4202430" h="1631950">
                  <a:moveTo>
                    <a:pt x="0" y="75691"/>
                  </a:moveTo>
                  <a:lnTo>
                    <a:pt x="5951" y="46237"/>
                  </a:lnTo>
                  <a:lnTo>
                    <a:pt x="22177" y="22177"/>
                  </a:lnTo>
                  <a:lnTo>
                    <a:pt x="46237" y="5951"/>
                  </a:lnTo>
                  <a:lnTo>
                    <a:pt x="75692" y="0"/>
                  </a:lnTo>
                  <a:lnTo>
                    <a:pt x="4126611" y="0"/>
                  </a:lnTo>
                  <a:lnTo>
                    <a:pt x="4156065" y="5951"/>
                  </a:lnTo>
                  <a:lnTo>
                    <a:pt x="4180125" y="22177"/>
                  </a:lnTo>
                  <a:lnTo>
                    <a:pt x="4196351" y="46237"/>
                  </a:lnTo>
                  <a:lnTo>
                    <a:pt x="4202303" y="75691"/>
                  </a:lnTo>
                  <a:lnTo>
                    <a:pt x="4202303" y="1556131"/>
                  </a:lnTo>
                  <a:lnTo>
                    <a:pt x="4196351" y="1585585"/>
                  </a:lnTo>
                  <a:lnTo>
                    <a:pt x="4180125" y="1609645"/>
                  </a:lnTo>
                  <a:lnTo>
                    <a:pt x="4156065" y="1625871"/>
                  </a:lnTo>
                  <a:lnTo>
                    <a:pt x="4126611" y="1631823"/>
                  </a:lnTo>
                  <a:lnTo>
                    <a:pt x="75692" y="1631823"/>
                  </a:lnTo>
                  <a:lnTo>
                    <a:pt x="46237" y="1625871"/>
                  </a:lnTo>
                  <a:lnTo>
                    <a:pt x="22177" y="1609645"/>
                  </a:lnTo>
                  <a:lnTo>
                    <a:pt x="5951" y="1585585"/>
                  </a:lnTo>
                  <a:lnTo>
                    <a:pt x="0" y="1556131"/>
                  </a:lnTo>
                  <a:lnTo>
                    <a:pt x="0" y="75691"/>
                  </a:lnTo>
                  <a:close/>
                </a:path>
              </a:pathLst>
            </a:custGeom>
            <a:ln w="7620">
              <a:solidFill>
                <a:srgbClr val="5555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6861429" y="4607433"/>
            <a:ext cx="3794125" cy="1158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E4DFDF"/>
                </a:solidFill>
                <a:latin typeface="Lucida Sans Unicode"/>
                <a:cs typeface="Lucida Sans Unicode"/>
              </a:rPr>
              <a:t>Forensic</a:t>
            </a:r>
            <a:r>
              <a:rPr sz="1500" spc="-30" dirty="0">
                <a:solidFill>
                  <a:srgbClr val="E4DFDF"/>
                </a:solidFill>
                <a:latin typeface="Lucida Sans Unicode"/>
                <a:cs typeface="Lucida Sans Unicode"/>
              </a:rPr>
              <a:t> </a:t>
            </a:r>
            <a:r>
              <a:rPr sz="1500" spc="-10" dirty="0">
                <a:solidFill>
                  <a:srgbClr val="E4DFDF"/>
                </a:solidFill>
                <a:latin typeface="Lucida Sans Unicode"/>
                <a:cs typeface="Lucida Sans Unicode"/>
              </a:rPr>
              <a:t>Applications</a:t>
            </a:r>
            <a:endParaRPr sz="1500">
              <a:latin typeface="Lucida Sans Unicode"/>
              <a:cs typeface="Lucida Sans Unicode"/>
            </a:endParaRPr>
          </a:p>
          <a:p>
            <a:pPr marL="12700" marR="5080">
              <a:lnSpc>
                <a:spcPct val="118900"/>
              </a:lnSpc>
              <a:spcBef>
                <a:spcPts val="1120"/>
              </a:spcBef>
            </a:pPr>
            <a:r>
              <a:rPr sz="1400" dirty="0">
                <a:solidFill>
                  <a:srgbClr val="E4DFDF"/>
                </a:solidFill>
                <a:latin typeface="Roboto Lt"/>
                <a:cs typeface="Roboto Lt"/>
              </a:rPr>
              <a:t>Practical</a:t>
            </a:r>
            <a:r>
              <a:rPr sz="1400" spc="-2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400" dirty="0">
                <a:solidFill>
                  <a:srgbClr val="E4DFDF"/>
                </a:solidFill>
                <a:latin typeface="Roboto Lt"/>
                <a:cs typeface="Roboto Lt"/>
              </a:rPr>
              <a:t>tool</a:t>
            </a:r>
            <a:r>
              <a:rPr sz="1400" spc="-3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400" dirty="0">
                <a:solidFill>
                  <a:srgbClr val="E4DFDF"/>
                </a:solidFill>
                <a:latin typeface="Roboto Lt"/>
                <a:cs typeface="Roboto Lt"/>
              </a:rPr>
              <a:t>for</a:t>
            </a:r>
            <a:r>
              <a:rPr sz="1400" spc="-25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400" dirty="0">
                <a:solidFill>
                  <a:srgbClr val="E4DFDF"/>
                </a:solidFill>
                <a:latin typeface="Roboto Lt"/>
                <a:cs typeface="Roboto Lt"/>
              </a:rPr>
              <a:t>document</a:t>
            </a:r>
            <a:r>
              <a:rPr sz="1400" spc="-3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400" dirty="0">
                <a:solidFill>
                  <a:srgbClr val="E4DFDF"/>
                </a:solidFill>
                <a:latin typeface="Roboto Lt"/>
                <a:cs typeface="Roboto Lt"/>
              </a:rPr>
              <a:t>authentication,</a:t>
            </a:r>
            <a:r>
              <a:rPr sz="1400" spc="-45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400" spc="-10" dirty="0">
                <a:solidFill>
                  <a:srgbClr val="E4DFDF"/>
                </a:solidFill>
                <a:latin typeface="Roboto Lt"/>
                <a:cs typeface="Roboto Lt"/>
              </a:rPr>
              <a:t>fraud </a:t>
            </a:r>
            <a:r>
              <a:rPr sz="1400" dirty="0">
                <a:solidFill>
                  <a:srgbClr val="E4DFDF"/>
                </a:solidFill>
                <a:latin typeface="Roboto Lt"/>
                <a:cs typeface="Roboto Lt"/>
              </a:rPr>
              <a:t>detection,</a:t>
            </a:r>
            <a:r>
              <a:rPr sz="1400" spc="-5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400" dirty="0">
                <a:solidFill>
                  <a:srgbClr val="E4DFDF"/>
                </a:solidFill>
                <a:latin typeface="Roboto Lt"/>
                <a:cs typeface="Roboto Lt"/>
              </a:rPr>
              <a:t>and</a:t>
            </a:r>
            <a:r>
              <a:rPr sz="1400" spc="-15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400" dirty="0">
                <a:solidFill>
                  <a:srgbClr val="E4DFDF"/>
                </a:solidFill>
                <a:latin typeface="Roboto Lt"/>
                <a:cs typeface="Roboto Lt"/>
              </a:rPr>
              <a:t>legal</a:t>
            </a:r>
            <a:r>
              <a:rPr sz="1400" spc="-3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400" dirty="0">
                <a:solidFill>
                  <a:srgbClr val="E4DFDF"/>
                </a:solidFill>
                <a:latin typeface="Roboto Lt"/>
                <a:cs typeface="Roboto Lt"/>
              </a:rPr>
              <a:t>investigations</a:t>
            </a:r>
            <a:r>
              <a:rPr sz="1400" spc="-3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400" spc="-10" dirty="0">
                <a:solidFill>
                  <a:srgbClr val="E4DFDF"/>
                </a:solidFill>
                <a:latin typeface="Roboto Lt"/>
                <a:cs typeface="Roboto Lt"/>
              </a:rPr>
              <a:t>requiring </a:t>
            </a:r>
            <a:r>
              <a:rPr sz="1400" dirty="0">
                <a:solidFill>
                  <a:srgbClr val="E4DFDF"/>
                </a:solidFill>
                <a:latin typeface="Roboto Lt"/>
                <a:cs typeface="Roboto Lt"/>
              </a:rPr>
              <a:t>scanner</a:t>
            </a:r>
            <a:r>
              <a:rPr sz="1400" spc="-25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400" dirty="0">
                <a:solidFill>
                  <a:srgbClr val="E4DFDF"/>
                </a:solidFill>
                <a:latin typeface="Roboto Lt"/>
                <a:cs typeface="Roboto Lt"/>
              </a:rPr>
              <a:t>source</a:t>
            </a:r>
            <a:r>
              <a:rPr sz="1400" spc="-25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400" spc="-10" dirty="0">
                <a:solidFill>
                  <a:srgbClr val="E4DFDF"/>
                </a:solidFill>
                <a:latin typeface="Roboto Lt"/>
                <a:cs typeface="Roboto Lt"/>
              </a:rPr>
              <a:t>attribution</a:t>
            </a:r>
            <a:endParaRPr sz="1400">
              <a:latin typeface="Roboto Lt"/>
              <a:cs typeface="Roboto L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1350772" y="6803263"/>
            <a:ext cx="9108440" cy="927100"/>
            <a:chOff x="1350772" y="6803263"/>
            <a:chExt cx="9108440" cy="927100"/>
          </a:xfrm>
        </p:grpSpPr>
        <p:sp>
          <p:nvSpPr>
            <p:cNvPr id="20" name="object 20"/>
            <p:cNvSpPr/>
            <p:nvPr/>
          </p:nvSpPr>
          <p:spPr>
            <a:xfrm>
              <a:off x="1354582" y="6807073"/>
              <a:ext cx="9100820" cy="919480"/>
            </a:xfrm>
            <a:custGeom>
              <a:avLst/>
              <a:gdLst/>
              <a:ahLst/>
              <a:cxnLst/>
              <a:rect l="l" t="t" r="r" b="b"/>
              <a:pathLst>
                <a:path w="9100820" h="919479">
                  <a:moveTo>
                    <a:pt x="9034526" y="0"/>
                  </a:moveTo>
                  <a:lnTo>
                    <a:pt x="65912" y="0"/>
                  </a:lnTo>
                  <a:lnTo>
                    <a:pt x="40237" y="5173"/>
                  </a:lnTo>
                  <a:lnTo>
                    <a:pt x="19288" y="19288"/>
                  </a:lnTo>
                  <a:lnTo>
                    <a:pt x="5173" y="40237"/>
                  </a:lnTo>
                  <a:lnTo>
                    <a:pt x="0" y="65912"/>
                  </a:lnTo>
                  <a:lnTo>
                    <a:pt x="0" y="853452"/>
                  </a:lnTo>
                  <a:lnTo>
                    <a:pt x="5173" y="879112"/>
                  </a:lnTo>
                  <a:lnTo>
                    <a:pt x="19288" y="900063"/>
                  </a:lnTo>
                  <a:lnTo>
                    <a:pt x="40237" y="914187"/>
                  </a:lnTo>
                  <a:lnTo>
                    <a:pt x="65912" y="919365"/>
                  </a:lnTo>
                  <a:lnTo>
                    <a:pt x="9034526" y="919365"/>
                  </a:lnTo>
                  <a:lnTo>
                    <a:pt x="9060201" y="914187"/>
                  </a:lnTo>
                  <a:lnTo>
                    <a:pt x="9081150" y="900063"/>
                  </a:lnTo>
                  <a:lnTo>
                    <a:pt x="9095265" y="879112"/>
                  </a:lnTo>
                  <a:lnTo>
                    <a:pt x="9100439" y="853452"/>
                  </a:lnTo>
                  <a:lnTo>
                    <a:pt x="9100439" y="65912"/>
                  </a:lnTo>
                  <a:lnTo>
                    <a:pt x="9095265" y="40237"/>
                  </a:lnTo>
                  <a:lnTo>
                    <a:pt x="9081150" y="19288"/>
                  </a:lnTo>
                  <a:lnTo>
                    <a:pt x="9060201" y="5173"/>
                  </a:lnTo>
                  <a:lnTo>
                    <a:pt x="9034526" y="0"/>
                  </a:lnTo>
                  <a:close/>
                </a:path>
              </a:pathLst>
            </a:custGeom>
            <a:solidFill>
              <a:srgbClr val="3C3C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354582" y="6807073"/>
              <a:ext cx="9100820" cy="919480"/>
            </a:xfrm>
            <a:custGeom>
              <a:avLst/>
              <a:gdLst/>
              <a:ahLst/>
              <a:cxnLst/>
              <a:rect l="l" t="t" r="r" b="b"/>
              <a:pathLst>
                <a:path w="9100820" h="919479">
                  <a:moveTo>
                    <a:pt x="0" y="65912"/>
                  </a:moveTo>
                  <a:lnTo>
                    <a:pt x="5173" y="40237"/>
                  </a:lnTo>
                  <a:lnTo>
                    <a:pt x="19288" y="19288"/>
                  </a:lnTo>
                  <a:lnTo>
                    <a:pt x="40237" y="5173"/>
                  </a:lnTo>
                  <a:lnTo>
                    <a:pt x="65912" y="0"/>
                  </a:lnTo>
                  <a:lnTo>
                    <a:pt x="9034526" y="0"/>
                  </a:lnTo>
                  <a:lnTo>
                    <a:pt x="9060201" y="5173"/>
                  </a:lnTo>
                  <a:lnTo>
                    <a:pt x="9081150" y="19288"/>
                  </a:lnTo>
                  <a:lnTo>
                    <a:pt x="9095265" y="40237"/>
                  </a:lnTo>
                  <a:lnTo>
                    <a:pt x="9100439" y="65912"/>
                  </a:lnTo>
                  <a:lnTo>
                    <a:pt x="9100439" y="853452"/>
                  </a:lnTo>
                  <a:lnTo>
                    <a:pt x="9095265" y="879112"/>
                  </a:lnTo>
                  <a:lnTo>
                    <a:pt x="9081150" y="900063"/>
                  </a:lnTo>
                  <a:lnTo>
                    <a:pt x="9060201" y="914187"/>
                  </a:lnTo>
                  <a:lnTo>
                    <a:pt x="9034526" y="919365"/>
                  </a:lnTo>
                  <a:lnTo>
                    <a:pt x="65912" y="919365"/>
                  </a:lnTo>
                  <a:lnTo>
                    <a:pt x="40237" y="914187"/>
                  </a:lnTo>
                  <a:lnTo>
                    <a:pt x="19288" y="900063"/>
                  </a:lnTo>
                  <a:lnTo>
                    <a:pt x="5173" y="879112"/>
                  </a:lnTo>
                  <a:lnTo>
                    <a:pt x="0" y="853452"/>
                  </a:lnTo>
                  <a:lnTo>
                    <a:pt x="0" y="65912"/>
                  </a:lnTo>
                  <a:close/>
                </a:path>
              </a:pathLst>
            </a:custGeom>
            <a:ln w="7620">
              <a:solidFill>
                <a:srgbClr val="5555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1528063" y="6951065"/>
            <a:ext cx="8671560" cy="600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E4DFDF"/>
                </a:solidFill>
                <a:latin typeface="Lucida Sans Unicode"/>
                <a:cs typeface="Lucida Sans Unicode"/>
              </a:rPr>
              <a:t>Future</a:t>
            </a:r>
            <a:r>
              <a:rPr sz="1500" spc="-90" dirty="0">
                <a:solidFill>
                  <a:srgbClr val="E4DFDF"/>
                </a:solidFill>
                <a:latin typeface="Lucida Sans Unicode"/>
                <a:cs typeface="Lucida Sans Unicode"/>
              </a:rPr>
              <a:t> </a:t>
            </a:r>
            <a:r>
              <a:rPr sz="1500" spc="-10" dirty="0">
                <a:solidFill>
                  <a:srgbClr val="E4DFDF"/>
                </a:solidFill>
                <a:latin typeface="Lucida Sans Unicode"/>
                <a:cs typeface="Lucida Sans Unicode"/>
              </a:rPr>
              <a:t>Directions</a:t>
            </a:r>
            <a:endParaRPr sz="15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400" dirty="0">
                <a:solidFill>
                  <a:srgbClr val="E4DFDF"/>
                </a:solidFill>
                <a:latin typeface="Roboto Lt"/>
                <a:cs typeface="Roboto Lt"/>
              </a:rPr>
              <a:t>Expand</a:t>
            </a:r>
            <a:r>
              <a:rPr sz="1400" spc="-4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400" dirty="0">
                <a:solidFill>
                  <a:srgbClr val="E4DFDF"/>
                </a:solidFill>
                <a:latin typeface="Roboto Lt"/>
                <a:cs typeface="Roboto Lt"/>
              </a:rPr>
              <a:t>to</a:t>
            </a:r>
            <a:r>
              <a:rPr sz="1400" spc="-2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400" dirty="0">
                <a:solidFill>
                  <a:srgbClr val="E4DFDF"/>
                </a:solidFill>
                <a:latin typeface="Roboto Lt"/>
                <a:cs typeface="Roboto Lt"/>
              </a:rPr>
              <a:t>more</a:t>
            </a:r>
            <a:r>
              <a:rPr sz="1400" spc="-45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400" dirty="0">
                <a:solidFill>
                  <a:srgbClr val="E4DFDF"/>
                </a:solidFill>
                <a:latin typeface="Roboto Lt"/>
                <a:cs typeface="Roboto Lt"/>
              </a:rPr>
              <a:t>scanner</a:t>
            </a:r>
            <a:r>
              <a:rPr sz="1400" spc="-1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400" dirty="0">
                <a:solidFill>
                  <a:srgbClr val="E4DFDF"/>
                </a:solidFill>
                <a:latin typeface="Roboto Lt"/>
                <a:cs typeface="Roboto Lt"/>
              </a:rPr>
              <a:t>brands,</a:t>
            </a:r>
            <a:r>
              <a:rPr sz="1400" spc="-35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400" dirty="0">
                <a:solidFill>
                  <a:srgbClr val="E4DFDF"/>
                </a:solidFill>
                <a:latin typeface="Roboto Lt"/>
                <a:cs typeface="Roboto Lt"/>
              </a:rPr>
              <a:t>explore</a:t>
            </a:r>
            <a:r>
              <a:rPr sz="1400" spc="-35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400" dirty="0">
                <a:solidFill>
                  <a:srgbClr val="E4DFDF"/>
                </a:solidFill>
                <a:latin typeface="Roboto Lt"/>
                <a:cs typeface="Roboto Lt"/>
              </a:rPr>
              <a:t>printer</a:t>
            </a:r>
            <a:r>
              <a:rPr sz="1400" spc="-2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400" dirty="0">
                <a:solidFill>
                  <a:srgbClr val="E4DFDF"/>
                </a:solidFill>
                <a:latin typeface="Roboto Lt"/>
                <a:cs typeface="Roboto Lt"/>
              </a:rPr>
              <a:t>identification,</a:t>
            </a:r>
            <a:r>
              <a:rPr sz="1400" spc="-6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400" dirty="0">
                <a:solidFill>
                  <a:srgbClr val="E4DFDF"/>
                </a:solidFill>
                <a:latin typeface="Roboto Lt"/>
                <a:cs typeface="Roboto Lt"/>
              </a:rPr>
              <a:t>and</a:t>
            </a:r>
            <a:r>
              <a:rPr sz="1400" spc="-3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400" dirty="0">
                <a:solidFill>
                  <a:srgbClr val="E4DFDF"/>
                </a:solidFill>
                <a:latin typeface="Roboto Lt"/>
                <a:cs typeface="Roboto Lt"/>
              </a:rPr>
              <a:t>integrate</a:t>
            </a:r>
            <a:r>
              <a:rPr sz="1400" spc="-45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400" dirty="0">
                <a:solidFill>
                  <a:srgbClr val="E4DFDF"/>
                </a:solidFill>
                <a:latin typeface="Roboto Lt"/>
                <a:cs typeface="Roboto Lt"/>
              </a:rPr>
              <a:t>with</a:t>
            </a:r>
            <a:r>
              <a:rPr sz="1400" spc="-25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400" dirty="0">
                <a:solidFill>
                  <a:srgbClr val="E4DFDF"/>
                </a:solidFill>
                <a:latin typeface="Roboto Lt"/>
                <a:cs typeface="Roboto Lt"/>
              </a:rPr>
              <a:t>document</a:t>
            </a:r>
            <a:r>
              <a:rPr sz="1400" spc="-4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400" dirty="0">
                <a:solidFill>
                  <a:srgbClr val="E4DFDF"/>
                </a:solidFill>
                <a:latin typeface="Roboto Lt"/>
                <a:cs typeface="Roboto Lt"/>
              </a:rPr>
              <a:t>verification</a:t>
            </a:r>
            <a:r>
              <a:rPr sz="1400" spc="-30" dirty="0">
                <a:solidFill>
                  <a:srgbClr val="E4DFDF"/>
                </a:solidFill>
                <a:latin typeface="Roboto Lt"/>
                <a:cs typeface="Roboto Lt"/>
              </a:rPr>
              <a:t> </a:t>
            </a:r>
            <a:r>
              <a:rPr sz="1400" spc="-10" dirty="0">
                <a:solidFill>
                  <a:srgbClr val="E4DFDF"/>
                </a:solidFill>
                <a:latin typeface="Roboto Lt"/>
                <a:cs typeface="Roboto Lt"/>
              </a:rPr>
              <a:t>systems</a:t>
            </a:r>
            <a:endParaRPr sz="1400">
              <a:latin typeface="Roboto Lt"/>
              <a:cs typeface="Roboto L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657</Words>
  <Application>Microsoft Office PowerPoint</Application>
  <PresentationFormat>Custom</PresentationFormat>
  <Paragraphs>75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Arial MT</vt:lpstr>
      <vt:lpstr>Lucida Sans Unicode</vt:lpstr>
      <vt:lpstr>Roboto Lt</vt:lpstr>
      <vt:lpstr>Office Theme</vt:lpstr>
      <vt:lpstr>AITracker</vt:lpstr>
      <vt:lpstr>Scanner Device Identification from Scanned Documents</vt:lpstr>
      <vt:lpstr>Dataset Collection &amp; Understanding</vt:lpstr>
      <vt:lpstr>Image Preprocessing Pipeline</vt:lpstr>
      <vt:lpstr>Feature Extraction &amp; Classical Machine Learning</vt:lpstr>
      <vt:lpstr>Deep Learning Approach: From Scratch to Transfer Learning</vt:lpstr>
      <vt:lpstr>Model Explainability: Understanding CNN Decisions</vt:lpstr>
      <vt:lpstr>Deployment &amp; Key Takeaways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Yatendra Pachori</dc:creator>
  <cp:lastModifiedBy>YATENDRA PACHORI</cp:lastModifiedBy>
  <cp:revision>1</cp:revision>
  <dcterms:created xsi:type="dcterms:W3CDTF">2026-01-19T13:55:34Z</dcterms:created>
  <dcterms:modified xsi:type="dcterms:W3CDTF">2026-01-19T13:56:35Z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2026-01-16T00:00:00Z</vt:filetime>
  </property>
  <property fmtid="{D5CDD505-2E9C-101B-9397-08002B2CF9AE}" pid="3" name="Creator">
    <vt:lpwstr>Microsoft® PowerPoint® 2021</vt:lpwstr>
  </property>
  <property fmtid="{D5CDD505-2E9C-101B-9397-08002B2CF9AE}" pid="4" name="LastSaved">
    <vt:filetime>2026-01-19T00:00:00Z</vt:filetime>
  </property>
  <property fmtid="{D5CDD505-2E9C-101B-9397-08002B2CF9AE}" pid="5" name="Producer">
    <vt:lpwstr>Microsoft® PowerPoint® 2021</vt:lpwstr>
  </property>
</Properties>
</file>